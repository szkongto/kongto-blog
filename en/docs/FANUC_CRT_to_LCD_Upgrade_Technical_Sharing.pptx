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为大家分享一个关于FANUC老旧CNC系统CRT显示器升级为LCD的专业技术案例。这个案例不仅解决了客户的实际痛点，也展示了如何通过技术升级为老旧设备注入新的活力。希望通过这次分享，能为大家在设备改造和维护方面提供一些有价值的参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分享将分为五个部分。首先，我们会探讨项目的背景和客户面临的挑战。接着，详细介绍我们提供的工业级LCD替换解决方案。然后，我们会一步步拆解安装实施过程。之后，分析升级带来的实际效果和投资回报。最后，对整个项目进行总结并展望未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First, let's move to Part 1: Project Background and the severe challenges our client faces. In today's smart manufacturing landscape, the display systems of aging equipment have become a major bottleneck restricting productivity.</a:t>
            </a:r>
            <a:endParaRPr lang="en-US" sz="1400" b="0" i="0" u="none" strike="noStrike">
              <a:solidFill>
                <a:srgbClr val="000000"/>
              </a:solidFill>
            </a:endParaRPr>
          </a:p>
          <a:p>
            <a:pPr indent="0" algn="l">
              <a:lnSpc>
                <a:spcPct val="100000"/>
              </a:lnSpc>
            </a:pPr>
            <a:r>
              <a:rPr lang="en-US" sz="1400" b="0" i="0" u="none" strike="noStrike">
                <a:solidFill>
                  <a:srgbClr val="000000"/>
                </a:solidFill>
              </a:rPr>
              <a:t>Please look to the right side. The client's key challenges can be summarized in two points:</a:t>
            </a:r>
            <a:endParaRPr lang="en-US" sz="1400" b="0" i="0" u="none" strike="noStrike">
              <a:solidFill>
                <a:srgbClr val="000000"/>
              </a:solidFill>
            </a:endParaRPr>
          </a:p>
          <a:p>
            <a:pPr indent="0" algn="l">
              <a:lnSpc>
                <a:spcPct val="100000"/>
              </a:lnSpc>
            </a:pPr>
            <a:r>
              <a:rPr lang="en-US" sz="1400" b="0" i="0" u="none" strike="noStrike">
                <a:solidFill>
                  <a:srgbClr val="000000"/>
                </a:solidFill>
              </a:rPr>
              <a:t>1. Visual Dilemma from Equipment Aging: Many CNC machines are over 10 years old, with factory-original CRT or early LCD screens severely aged. They are blurry, have narrow viewing angles, and in the complex lighting of the workshop, workers can barely read the screen, greatly impairing the operating experience.</a:t>
            </a:r>
            <a:endParaRPr lang="en-US" sz="1400" b="0" i="0" u="none" strike="noStrike">
              <a:solidFill>
                <a:srgbClr val="000000"/>
              </a:solidFill>
            </a:endParaRPr>
          </a:p>
          <a:p>
            <a:pPr indent="0" algn="l">
              <a:lnSpc>
                <a:spcPct val="100000"/>
              </a:lnSpc>
            </a:pPr>
            <a:r>
              <a:rPr lang="en-US" sz="1400" b="0" i="0" u="none" strike="noStrike">
                <a:solidFill>
                  <a:srgbClr val="000000"/>
                </a:solidFill>
              </a:rPr>
              <a:t>2. Direct Constraint on Production Efficiency: Aging display systems are not only slow to respond but also have poor interface design with scattered critical data. This lengthens debugging time and increases the risk of errors due to unreadable data. These "visual bottlenecks" have seriously dragged down the entire production line's capacity.</a:t>
            </a:r>
            <a:endParaRPr lang="en-US" sz="1400" b="0" i="0" u="none" strike="noStrike">
              <a:solidFill>
                <a:srgbClr val="000000"/>
              </a:solidFill>
            </a:endParaRPr>
          </a:p>
          <a:p>
            <a:pPr indent="0" algn="l">
              <a:lnSpc>
                <a:spcPct val="100000"/>
              </a:lnSpc>
            </a:pPr>
            <a:r>
              <a:rPr lang="en-US" sz="1400" b="0" i="0" u="none" strike="noStrike">
                <a:solidFill>
                  <a:srgbClr val="000000"/>
                </a:solidFill>
              </a:rPr>
              <a:t>This is the fundamental reason for launching this upgrade project: to break the visual bottleneck and unleash manufacturing potential.</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CRT technology has many inherent defects. First, the lifespan is short, and irreversible attenuation occurs after more than 15,000 hours. Second, it has safety hazards of high voltage and radiation. In addition, it has high energy consumption, large heat generation, and is bulky, all of which bring great troubles to industrial applications.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These technical flaws translate directly into three core pain points for customers. First, display quality has seriously degraded, requiring operators to lean close to the screen to see clearly, greatly increasing the risk of misoperation. Second, maintenance costs are high and unsustainable; original parts have long been discontinued, leaving only unreliable second-hand alternatives. Finally, these issues directly impact production efficiency and safety, leading to downtime and increased scrap rates.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面对这些挑战，我们提出了一套成熟的解决方案：采用工业级TFT-LCD替换套件，实现“即插即用”的无缝升级，从根本上解决CRT带来的所有问题。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This is a comparison of core technical specifications between old and new solutions. It can be seen that the LCD solution has achieved comprehensive超越 in all key indicators such as resolution, brightness, lifespan, power consumption, operating temperature and safety. Especially, the lifespan is extended by more than three times and the energy consumption is reduced by 70%, which are tangible advantages.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core advantage of our solution lies in the "plug-and-play" design. It has a fully compatible interface, built-in signal conversion and power modules, and supports OSD menus for parameter adjustment. This means the installation process is very simple and can be completed by ordinary electricians. As you can see, this is our LCD replacement kit, with clear front display and compact back structure.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Next, we will introduce the installation and implementation process in detail. The entire process is very simple, and we have summarized it into five steps. An ordinary electrician can complete it within 30 minutes following the guidelines.</a:t>
            </a:r>
            <a:endParaRPr lang="en-US" sz="1400" b="0" i="0" u="none" strike="noStrike">
              <a:solidFill>
                <a:srgbClr val="000000"/>
              </a:solidFill>
            </a:endParaRPr>
          </a:p>
          <a:p>
            <a:pPr indent="0" algn="l">
              <a:lnSpc>
                <a:spcPct val="100000"/>
              </a:lnSpc>
            </a:pPr>
            <a:r>
              <a:rPr lang="en-US" sz="1400" b="0" i="0" u="none" strike="noStrike">
                <a:solidFill>
                  <a:srgbClr val="000000"/>
                </a:solidFill>
              </a:rPr>
              <a:t>Step 1: Scheme Confirmation. Our solution consultants will visit the site in advance, and based on your on-site circuit environment and renovation requirements, issue a detailed renovation plan and a list of required accessories to ensure everything is foolproof.</a:t>
            </a:r>
            <a:endParaRPr lang="en-US" sz="1400" b="0" i="0" u="none" strike="noStrike">
              <a:solidFill>
                <a:srgbClr val="000000"/>
              </a:solidFill>
            </a:endParaRPr>
          </a:p>
          <a:p>
            <a:pPr indent="0" algn="l">
              <a:lnSpc>
                <a:spcPct val="100000"/>
              </a:lnSpc>
            </a:pPr>
            <a:r>
              <a:rPr lang="en-US" sz="1400" b="0" i="0" u="none" strike="noStrike">
                <a:solidFill>
                  <a:srgbClr val="000000"/>
                </a:solidFill>
              </a:rPr>
              <a:t>Step 2: Power-off Operation. For safety reasons, you must first cut off the main power supply of the corresponding circuit, and use a test pen to confirm the absence of voltage again before starting the subsequent wiring operations.</a:t>
            </a:r>
            <a:endParaRPr lang="en-US" sz="1400" b="0" i="0" u="none" strike="noStrike">
              <a:solidFill>
                <a:srgbClr val="000000"/>
              </a:solidFill>
            </a:endParaRPr>
          </a:p>
          <a:p>
            <a:pPr indent="0" algn="l">
              <a:lnSpc>
                <a:spcPct val="100000"/>
              </a:lnSpc>
            </a:pPr>
            <a:r>
              <a:rPr lang="en-US" sz="1400" b="0" i="0" u="none" strike="noStrike">
                <a:solidFill>
                  <a:srgbClr val="000000"/>
                </a:solidFill>
              </a:rPr>
              <a:t>Step 3: Equipment Installation. Our smart module is compact and can be directly fixed in the original switch back box. During installation, you only need to connect the live wire and load wire according to the clear markings on the module, without requiring complex professional knowledge.</a:t>
            </a:r>
            <a:endParaRPr lang="en-US" sz="1400" b="0" i="0" u="none" strike="noStrike">
              <a:solidFill>
                <a:srgbClr val="000000"/>
              </a:solidFill>
            </a:endParaRPr>
          </a:p>
          <a:p>
            <a:pPr indent="0" algn="l">
              <a:lnSpc>
                <a:spcPct val="100000"/>
              </a:lnSpc>
            </a:pPr>
            <a:r>
              <a:rPr lang="en-US" sz="1400" b="0" i="0" u="none" strike="noStrike">
                <a:solidFill>
                  <a:srgbClr val="000000"/>
                </a:solidFill>
              </a:rPr>
              <a:t>Step 4: Power-on Debugging. After wiring is completed, restore the main power supply, check the indicator light status of the device, confirm that the basic on/off function of the switch is normal, and ensure the physical renovation is completed.</a:t>
            </a:r>
            <a:endParaRPr lang="en-US" sz="1400" b="0" i="0" u="none" strike="noStrike">
              <a:solidFill>
                <a:srgbClr val="000000"/>
              </a:solidFill>
            </a:endParaRPr>
          </a:p>
          <a:p>
            <a:pPr indent="0" algn="l">
              <a:lnSpc>
                <a:spcPct val="100000"/>
              </a:lnSpc>
            </a:pPr>
            <a:r>
              <a:rPr lang="en-US" sz="1400" b="0" i="0" u="none" strike="noStrike">
                <a:solidFill>
                  <a:srgbClr val="000000"/>
                </a:solidFill>
              </a:rPr>
              <a:t>Step 5: Normal Operation. Take out your phone and scan the QR code on the device to add it to our management platform, then configure scene linkage according to personal habits, and all smart functions will be activated.</a:t>
            </a:r>
            <a:endParaRPr lang="en-US" sz="1400" b="0" i="0" u="none" strike="noStrike">
              <a:solidFill>
                <a:srgbClr val="000000"/>
              </a:solidFill>
            </a:endParaRPr>
          </a:p>
          <a:p>
            <a:pPr indent="0" algn="l">
              <a:lnSpc>
                <a:spcPct val="100000"/>
              </a:lnSpc>
            </a:pPr>
            <a:r>
              <a:rPr lang="en-US" sz="1400" b="0" i="0" u="none" strike="noStrike">
                <a:solidFill>
                  <a:srgbClr val="000000"/>
                </a:solidFill>
              </a:rPr>
              <a:t>Through this standardized five-step process, even inexperienced users can easily complete the smart upgrade and renovation of the entire house.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Before installation, prepare tools and ensure power is off for safety. Step 1: Remove the old CRT display carefully, especially disconnecting the high-voltage cable. Step 2: Place the new LCD kit in the original position and secure it. Step 3: Connect the signal and power cables (interfaces are fool-proof designed).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Step 4 is power-on test: adjust via OSD after startup. Step 5 is acceptance: confirm normal display. The picture on the right shows the clear and bright effect after installation.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安装完成后，升级效果是立竿见影的。在第四部分，我们将分析升级带来的直观效果和长期的投资回报价值。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upgrade results are significant: display quality is greatly improved, operation efficiency is reduced by an average of 15%, and equipment stability is guaranteed. Considering maintenance savings and efficiency gains, the upgrade cost can be fully recovered in about 1 month. The LCD's lifespan of up to 50,000 hours means maintenance-free operation for over 10 years.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最后，让我们对本次项目进行总结，并展望未来。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In summary, this upgrade is a typical "Small Investment, Big Return" project. It not only solves immediate problems but also, more importantly, lays the foundation for the enterprise's digital transformation. Looking ahead, we believe that key technological upgrades to existing equipment will be an important means for enterprises to achieve cost reduction, efficiency improvement, and enhanced competitiveness.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我的分享到此结束，感谢大家的聆听。现在是问答环节，欢迎大家提问。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2.xml"/><Relationship Id="rId4" Type="http://schemas.openxmlformats.org/officeDocument/2006/relationships/image" Target="../media/image2.svg"/><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svg"/><Relationship Id="rId7" Type="http://schemas.openxmlformats.org/officeDocument/2006/relationships/image" Target="../media/image6.png"/><Relationship Id="rId6" Type="http://schemas.openxmlformats.org/officeDocument/2006/relationships/image" Target="../media/image5.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4.png"/><Relationship Id="rId2" Type="http://schemas.openxmlformats.org/officeDocument/2006/relationships/image" Target="../media/image3.svg"/><Relationship Id="rId10" Type="http://schemas.openxmlformats.org/officeDocument/2006/relationships/notesSlide" Target="../notesSlides/notesSlide4.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2.xml"/><Relationship Id="rId7" Type="http://schemas.openxmlformats.org/officeDocument/2006/relationships/image" Target="../media/image9.jpeg"/><Relationship Id="rId6" Type="http://schemas.openxmlformats.org/officeDocument/2006/relationships/image" Target="../media/image4.svg"/><Relationship Id="rId5" Type="http://schemas.openxmlformats.org/officeDocument/2006/relationships/image" Target="../media/image4.png"/><Relationship Id="rId4" Type="http://schemas.openxmlformats.org/officeDocument/2006/relationships/image" Target="../media/image8.svg"/><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image" Target="../media/image9.sv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9" Type="http://schemas.openxmlformats.org/officeDocument/2006/relationships/image" Target="../media/image15.jpeg"/><Relationship Id="rId8" Type="http://schemas.openxmlformats.org/officeDocument/2006/relationships/image" Target="../media/image13.svg"/><Relationship Id="rId7" Type="http://schemas.openxmlformats.org/officeDocument/2006/relationships/image" Target="../media/image14.png"/><Relationship Id="rId6" Type="http://schemas.openxmlformats.org/officeDocument/2006/relationships/image" Target="../media/image12.svg"/><Relationship Id="rId5" Type="http://schemas.openxmlformats.org/officeDocument/2006/relationships/image" Target="../media/image13.png"/><Relationship Id="rId4" Type="http://schemas.openxmlformats.org/officeDocument/2006/relationships/image" Target="../media/image11.svg"/><Relationship Id="rId3" Type="http://schemas.openxmlformats.org/officeDocument/2006/relationships/image" Target="../media/image12.png"/><Relationship Id="rId2" Type="http://schemas.openxmlformats.org/officeDocument/2006/relationships/image" Target="../media/image10.svg"/><Relationship Id="rId12" Type="http://schemas.openxmlformats.org/officeDocument/2006/relationships/notesSlide" Target="../notesSlides/notesSlide8.xml"/><Relationship Id="rId11" Type="http://schemas.openxmlformats.org/officeDocument/2006/relationships/slideLayout" Target="../slideLayouts/slideLayout12.xml"/><Relationship Id="rId10" Type="http://schemas.openxmlformats.org/officeDocument/2006/relationships/image" Target="../media/image16.jpe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17.svg"/><Relationship Id="rId7" Type="http://schemas.openxmlformats.org/officeDocument/2006/relationships/image" Target="../media/image20.png"/><Relationship Id="rId6" Type="http://schemas.openxmlformats.org/officeDocument/2006/relationships/image" Target="../media/image16.svg"/><Relationship Id="rId5" Type="http://schemas.openxmlformats.org/officeDocument/2006/relationships/image" Target="../media/image19.png"/><Relationship Id="rId4" Type="http://schemas.openxmlformats.org/officeDocument/2006/relationships/image" Target="../media/image15.svg"/><Relationship Id="rId3" Type="http://schemas.openxmlformats.org/officeDocument/2006/relationships/image" Target="../media/image18.png"/><Relationship Id="rId2" Type="http://schemas.openxmlformats.org/officeDocument/2006/relationships/image" Target="../media/image14.svg"/><Relationship Id="rId12" Type="http://schemas.openxmlformats.org/officeDocument/2006/relationships/notesSlide" Target="../notesSlides/notesSlide9.xml"/><Relationship Id="rId11" Type="http://schemas.openxmlformats.org/officeDocument/2006/relationships/slideLayout" Target="../slideLayouts/slideLayout12.xml"/><Relationship Id="rId10" Type="http://schemas.openxmlformats.org/officeDocument/2006/relationships/image" Target="../media/image18.svg"/><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image" Target="../media/image19.svg"/><Relationship Id="rId1" Type="http://schemas.openxmlformats.org/officeDocument/2006/relationships/image" Target="../media/image22.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2.xml"/><Relationship Id="rId3" Type="http://schemas.openxmlformats.org/officeDocument/2006/relationships/image" Target="../media/image23.png"/><Relationship Id="rId2" Type="http://schemas.openxmlformats.org/officeDocument/2006/relationships/image" Target="../media/image7.sv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20.svg"/><Relationship Id="rId1" Type="http://schemas.openxmlformats.org/officeDocument/2006/relationships/image" Target="../media/image24.png"/></Relationships>
</file>

<file path=ppt/slides/_rels/slide13.xml.rels><?xml version="1.0" encoding="UTF-8" standalone="yes"?>
<Relationships xmlns="http://schemas.openxmlformats.org/package/2006/relationships"><Relationship Id="rId9" Type="http://schemas.openxmlformats.org/officeDocument/2006/relationships/image" Target="../media/image24.svg"/><Relationship Id="rId8" Type="http://schemas.openxmlformats.org/officeDocument/2006/relationships/image" Target="../media/image29.png"/><Relationship Id="rId7" Type="http://schemas.openxmlformats.org/officeDocument/2006/relationships/image" Target="../media/image23.svg"/><Relationship Id="rId6" Type="http://schemas.openxmlformats.org/officeDocument/2006/relationships/image" Target="../media/image28.png"/><Relationship Id="rId5" Type="http://schemas.openxmlformats.org/officeDocument/2006/relationships/image" Target="../media/image22.svg"/><Relationship Id="rId4" Type="http://schemas.openxmlformats.org/officeDocument/2006/relationships/image" Target="../media/image27.png"/><Relationship Id="rId3" Type="http://schemas.openxmlformats.org/officeDocument/2006/relationships/image" Target="../media/image21.svg"/><Relationship Id="rId2" Type="http://schemas.openxmlformats.org/officeDocument/2006/relationships/image" Target="../media/image26.png"/><Relationship Id="rId11" Type="http://schemas.openxmlformats.org/officeDocument/2006/relationships/notesSlide" Target="../notesSlides/notesSlide13.xml"/><Relationship Id="rId10" Type="http://schemas.openxmlformats.org/officeDocument/2006/relationships/slideLayout" Target="../slideLayouts/slideLayout12.xml"/><Relationship Id="rId1" Type="http://schemas.openxmlformats.org/officeDocument/2006/relationships/image" Target="../media/image25.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hyperlink" Target="www.cncdisplay.com" TargetMode="Externa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2.xml"/><Relationship Id="rId4" Type="http://schemas.openxmlformats.org/officeDocument/2006/relationships/image" Target="../media/image26.svg"/><Relationship Id="rId3" Type="http://schemas.openxmlformats.org/officeDocument/2006/relationships/image" Target="../media/image31.png"/><Relationship Id="rId2" Type="http://schemas.openxmlformats.org/officeDocument/2006/relationships/image" Target="../media/image25.svg"/><Relationship Id="rId1" Type="http://schemas.openxmlformats.org/officeDocument/2006/relationships/image" Target="../media/image3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3333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032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FANUC CRT to LCD Upgrade</a:t>
            </a:r>
            <a:endParaRPr lang="en-US" sz="1100"/>
          </a:p>
        </p:txBody>
      </p:sp>
      <p:sp>
        <p:nvSpPr>
          <p:cNvPr id="3" name="AutoShape 3"/>
          <p:cNvSpPr/>
          <p:nvPr/>
        </p:nvSpPr>
        <p:spPr>
          <a:xfrm>
            <a:off x="5461000" y="3429000"/>
            <a:ext cx="1270000" cy="50800"/>
          </a:xfrm>
          <a:prstGeom prst="roundRect">
            <a:avLst>
              <a:gd name="adj" fmla="val 0"/>
            </a:avLst>
          </a:prstGeom>
          <a:solidFill>
            <a:srgbClr val="00B8D9">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4064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Professional Technical Sharing and Case Analysis</a:t>
            </a:r>
            <a:endParaRPr lang="en-US" sz="1100"/>
          </a:p>
        </p:txBody>
      </p:sp>
      <p:sp>
        <p:nvSpPr>
          <p:cNvPr id="5" name="AutoShape 5"/>
          <p:cNvSpPr/>
          <p:nvPr/>
        </p:nvSpPr>
        <p:spPr>
          <a:xfrm>
            <a:off x="0" y="5588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Kongto Technology | cncdisplay.com |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r>
              <a:rPr lang="en-US" sz="2400" b="0" i="0" u="none" strike="noStrike">
                <a:solidFill>
                  <a:srgbClr val="999999"/>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CONTENTS</a:t>
            </a:r>
            <a:endParaRPr lang="en-US" sz="1100"/>
          </a:p>
        </p:txBody>
      </p:sp>
      <p:sp>
        <p:nvSpPr>
          <p:cNvPr id="3" name="AutoShape 3"/>
          <p:cNvSpPr/>
          <p:nvPr/>
        </p:nvSpPr>
        <p:spPr>
          <a:xfrm>
            <a:off x="762000" y="1778000"/>
            <a:ext cx="2032000" cy="4064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762000" y="2159000"/>
            <a:ext cx="203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5" name="AutoShape 5"/>
          <p:cNvSpPr/>
          <p:nvPr/>
        </p:nvSpPr>
        <p:spPr>
          <a:xfrm>
            <a:off x="1460500" y="3302000"/>
            <a:ext cx="6350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3810000"/>
            <a:ext cx="203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 Background &amp; Challenges</a:t>
            </a:r>
            <a:endParaRPr lang="en-US" sz="1100"/>
          </a:p>
        </p:txBody>
      </p:sp>
      <p:sp>
        <p:nvSpPr>
          <p:cNvPr id="7" name="AutoShape 7"/>
          <p:cNvSpPr/>
          <p:nvPr/>
        </p:nvSpPr>
        <p:spPr>
          <a:xfrm>
            <a:off x="889000" y="4953000"/>
            <a:ext cx="1778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"Visual Bottleneck" of</a:t>
            </a:r>
            <a:b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Old CNC Systems</a:t>
            </a:r>
            <a:endParaRPr lang="en-US" sz="1100"/>
          </a:p>
        </p:txBody>
      </p:sp>
      <p:sp>
        <p:nvSpPr>
          <p:cNvPr id="8" name="AutoShape 8"/>
          <p:cNvSpPr/>
          <p:nvPr/>
        </p:nvSpPr>
        <p:spPr>
          <a:xfrm>
            <a:off x="2984500" y="1778000"/>
            <a:ext cx="2032000" cy="4064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2984500" y="2159000"/>
            <a:ext cx="203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0" name="AutoShape 10"/>
          <p:cNvSpPr/>
          <p:nvPr/>
        </p:nvSpPr>
        <p:spPr>
          <a:xfrm>
            <a:off x="3683000" y="3302000"/>
            <a:ext cx="6350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2984500" y="3810000"/>
            <a:ext cx="203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Solutions</a:t>
            </a:r>
            <a:endParaRPr lang="en-US" sz="1100"/>
          </a:p>
        </p:txBody>
      </p:sp>
      <p:sp>
        <p:nvSpPr>
          <p:cNvPr id="12" name="AutoShape 12"/>
          <p:cNvSpPr/>
          <p:nvPr/>
        </p:nvSpPr>
        <p:spPr>
          <a:xfrm>
            <a:off x="3111500" y="4953000"/>
            <a:ext cx="1778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Industrial TFT-LCD</a:t>
            </a:r>
            <a:b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Replacement Kit</a:t>
            </a:r>
            <a:endParaRPr lang="en-US" sz="1100"/>
          </a:p>
        </p:txBody>
      </p:sp>
      <p:sp>
        <p:nvSpPr>
          <p:cNvPr id="13" name="AutoShape 13"/>
          <p:cNvSpPr/>
          <p:nvPr/>
        </p:nvSpPr>
        <p:spPr>
          <a:xfrm>
            <a:off x="5207000" y="1778000"/>
            <a:ext cx="2032000" cy="4064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5207000" y="2159000"/>
            <a:ext cx="203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5" name="AutoShape 15"/>
          <p:cNvSpPr/>
          <p:nvPr/>
        </p:nvSpPr>
        <p:spPr>
          <a:xfrm>
            <a:off x="5905500" y="3302000"/>
            <a:ext cx="6350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5207000" y="3810000"/>
            <a:ext cx="203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Installation Details</a:t>
            </a:r>
            <a:endParaRPr lang="en-US" sz="1100"/>
          </a:p>
        </p:txBody>
      </p:sp>
      <p:sp>
        <p:nvSpPr>
          <p:cNvPr id="17" name="AutoShape 17"/>
          <p:cNvSpPr/>
          <p:nvPr/>
        </p:nvSpPr>
        <p:spPr>
          <a:xfrm>
            <a:off x="5334000" y="4953000"/>
            <a:ext cx="1778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5-Step Upgrade &amp;</a:t>
            </a:r>
            <a:b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Transformation</a:t>
            </a:r>
            <a:endParaRPr lang="en-US" sz="1100"/>
          </a:p>
        </p:txBody>
      </p:sp>
      <p:sp>
        <p:nvSpPr>
          <p:cNvPr id="18" name="AutoShape 18"/>
          <p:cNvSpPr/>
          <p:nvPr/>
        </p:nvSpPr>
        <p:spPr>
          <a:xfrm>
            <a:off x="7429500" y="1778000"/>
            <a:ext cx="2032000" cy="4064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7429500" y="2159000"/>
            <a:ext cx="203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0" name="AutoShape 20"/>
          <p:cNvSpPr/>
          <p:nvPr/>
        </p:nvSpPr>
        <p:spPr>
          <a:xfrm>
            <a:off x="8128000" y="3302000"/>
            <a:ext cx="6350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429500" y="3810000"/>
            <a:ext cx="203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Upgrade Effects &amp;</a:t>
            </a:r>
            <a:b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Value Analysis</a:t>
            </a:r>
            <a:endParaRPr lang="en-US" sz="1100"/>
          </a:p>
        </p:txBody>
      </p:sp>
      <p:sp>
        <p:nvSpPr>
          <p:cNvPr id="22" name="AutoShape 22"/>
          <p:cNvSpPr/>
          <p:nvPr/>
        </p:nvSpPr>
        <p:spPr>
          <a:xfrm>
            <a:off x="7556500" y="4953000"/>
            <a:ext cx="1778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Visual Effects &amp;</a:t>
            </a:r>
            <a:b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ROI</a:t>
            </a:r>
            <a:endParaRPr lang="en-US" sz="1100"/>
          </a:p>
        </p:txBody>
      </p:sp>
      <p:sp>
        <p:nvSpPr>
          <p:cNvPr id="23" name="AutoShape 23"/>
          <p:cNvSpPr/>
          <p:nvPr/>
        </p:nvSpPr>
        <p:spPr>
          <a:xfrm>
            <a:off x="9652000" y="1778000"/>
            <a:ext cx="2032000" cy="4064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9652000" y="2159000"/>
            <a:ext cx="203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5" name="AutoShape 25"/>
          <p:cNvSpPr/>
          <p:nvPr/>
        </p:nvSpPr>
        <p:spPr>
          <a:xfrm>
            <a:off x="10350500" y="3302000"/>
            <a:ext cx="6350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9652000" y="3810000"/>
            <a:ext cx="203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Summary &amp; Outlook</a:t>
            </a:r>
            <a:endParaRPr lang="en-US" sz="1100"/>
          </a:p>
        </p:txBody>
      </p:sp>
      <p:sp>
        <p:nvSpPr>
          <p:cNvPr id="27" name="AutoShape 27"/>
          <p:cNvSpPr/>
          <p:nvPr/>
        </p:nvSpPr>
        <p:spPr>
          <a:xfrm>
            <a:off x="9779000" y="4953000"/>
            <a:ext cx="1778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Value of Equipment</a:t>
            </a:r>
            <a:b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Modernization</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3333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083300" y="762000"/>
            <a:ext cx="25400" cy="5334000"/>
          </a:xfrm>
          <a:prstGeom prst="roundRect">
            <a:avLst>
              <a:gd name="adj" fmla="val 0"/>
            </a:avLst>
          </a:prstGeom>
          <a:solidFill>
            <a:srgbClr val="FF66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1778000"/>
            <a:ext cx="4572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9600" b="1" i="0" u="none" strike="noStrike">
                <a:solidFill>
                  <a:srgbClr val="FF6600"/>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4" name="AutoShape 4"/>
          <p:cNvSpPr/>
          <p:nvPr/>
        </p:nvSpPr>
        <p:spPr>
          <a:xfrm>
            <a:off x="762000" y="3683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 Background &amp; Challenges</a:t>
            </a:r>
            <a:endParaRPr lang="en-US" sz="1100"/>
          </a:p>
        </p:txBody>
      </p:sp>
      <p:sp>
        <p:nvSpPr>
          <p:cNvPr id="5" name="AutoShape 5"/>
          <p:cNvSpPr/>
          <p:nvPr/>
        </p:nvSpPr>
        <p:spPr>
          <a:xfrm>
            <a:off x="762000" y="5080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Visual Bottleneck of Aging CNC Systems</a:t>
            </a:r>
            <a:endParaRPr lang="en-US" sz="1100"/>
          </a:p>
        </p:txBody>
      </p:sp>
      <p:sp>
        <p:nvSpPr>
          <p:cNvPr id="6" name="AutoShape 6"/>
          <p:cNvSpPr/>
          <p:nvPr/>
        </p:nvSpPr>
        <p:spPr>
          <a:xfrm>
            <a:off x="6604000" y="1524000"/>
            <a:ext cx="2413000" cy="4064000"/>
          </a:xfrm>
          <a:prstGeom prst="roundRect">
            <a:avLst>
              <a:gd name="adj" fmla="val 0"/>
            </a:avLst>
          </a:prstGeom>
          <a:solidFill>
            <a:srgbClr val="44444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04100" y="1905000"/>
            <a:ext cx="812800" cy="812800"/>
          </a:xfrm>
          <a:prstGeom prst="rect">
            <a:avLst/>
          </a:prstGeom>
        </p:spPr>
      </p:pic>
      <p:sp>
        <p:nvSpPr>
          <p:cNvPr id="8" name="AutoShape 8"/>
          <p:cNvSpPr/>
          <p:nvPr/>
        </p:nvSpPr>
        <p:spPr>
          <a:xfrm>
            <a:off x="6794500" y="3048000"/>
            <a:ext cx="203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Equipment Aging Dilemma</a:t>
            </a:r>
            <a:endParaRPr lang="en-US" sz="1100"/>
          </a:p>
        </p:txBody>
      </p:sp>
      <p:sp>
        <p:nvSpPr>
          <p:cNvPr id="9" name="AutoShape 9"/>
          <p:cNvSpPr/>
          <p:nvPr/>
        </p:nvSpPr>
        <p:spPr>
          <a:xfrm>
            <a:off x="6794500" y="3810000"/>
            <a:ext cx="2032000" cy="1651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Over 10-year-old CNC equipment with severely aged CRT/LCD displays: blurry visuals, distorted colors, limited viewing angles, and poor user experience.</a:t>
            </a:r>
            <a:endParaRPr lang="en-US" sz="1100"/>
          </a:p>
        </p:txBody>
      </p:sp>
      <p:sp>
        <p:nvSpPr>
          <p:cNvPr id="10" name="AutoShape 10"/>
          <p:cNvSpPr/>
          <p:nvPr/>
        </p:nvSpPr>
        <p:spPr>
          <a:xfrm>
            <a:off x="9271000" y="1524000"/>
            <a:ext cx="2413000" cy="4064000"/>
          </a:xfrm>
          <a:prstGeom prst="roundRect">
            <a:avLst>
              <a:gd name="adj" fmla="val 0"/>
            </a:avLst>
          </a:prstGeom>
          <a:solidFill>
            <a:srgbClr val="44444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71100" y="1905000"/>
            <a:ext cx="812800" cy="812800"/>
          </a:xfrm>
          <a:prstGeom prst="rect">
            <a:avLst/>
          </a:prstGeom>
        </p:spPr>
      </p:pic>
      <p:sp>
        <p:nvSpPr>
          <p:cNvPr id="12" name="AutoShape 12"/>
          <p:cNvSpPr/>
          <p:nvPr/>
        </p:nvSpPr>
        <p:spPr>
          <a:xfrm>
            <a:off x="9461500" y="3048000"/>
            <a:ext cx="203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Production Efficiency Constraints</a:t>
            </a:r>
            <a:endParaRPr lang="en-US" sz="1100"/>
          </a:p>
        </p:txBody>
      </p:sp>
      <p:sp>
        <p:nvSpPr>
          <p:cNvPr id="13" name="AutoShape 13"/>
          <p:cNvSpPr/>
          <p:nvPr/>
        </p:nvSpPr>
        <p:spPr>
          <a:xfrm>
            <a:off x="9461500" y="3810000"/>
            <a:ext cx="2032000" cy="1651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Delayed display response and non-intuitive data presentation lead to significantly reduced debugging/processing efficiency, restricting production capacity.</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Inherent Defects of CRT Technology and Industrial Application Dilemmas</a:t>
            </a:r>
            <a:endParaRPr lang="en-US" sz="1100"/>
          </a:p>
        </p:txBody>
      </p:sp>
      <p:sp>
        <p:nvSpPr>
          <p:cNvPr id="3" name="AutoShape 3"/>
          <p:cNvSpPr/>
          <p:nvPr/>
        </p:nvSpPr>
        <p:spPr>
          <a:xfrm>
            <a:off x="762000" y="1778000"/>
            <a:ext cx="2540000" cy="4191000"/>
          </a:xfrm>
          <a:prstGeom prst="roundRect">
            <a:avLst>
              <a:gd name="adj" fmla="val 60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27200" y="2159000"/>
            <a:ext cx="609600" cy="609600"/>
          </a:xfrm>
          <a:prstGeom prst="rect">
            <a:avLst/>
          </a:prstGeom>
        </p:spPr>
      </p:pic>
      <p:sp>
        <p:nvSpPr>
          <p:cNvPr id="5" name="AutoShape 5"/>
          <p:cNvSpPr/>
          <p:nvPr/>
        </p:nvSpPr>
        <p:spPr>
          <a:xfrm>
            <a:off x="952500" y="3175000"/>
            <a:ext cx="215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Lifespan and Attenuation</a:t>
            </a:r>
            <a:endParaRPr lang="en-US" sz="1100"/>
          </a:p>
        </p:txBody>
      </p:sp>
      <p:sp>
        <p:nvSpPr>
          <p:cNvPr id="6" name="AutoShape 6"/>
          <p:cNvSpPr/>
          <p:nvPr/>
        </p:nvSpPr>
        <p:spPr>
          <a:xfrm>
            <a:off x="952500" y="3937000"/>
            <a:ext cx="2159000" cy="1905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The lifespan of CRT core components is about 15,000 hours. After expiration, irreversible issues like brightness drop, poor focus, and color distortion occur.</a:t>
            </a:r>
            <a:endParaRPr lang="en-US" sz="1100"/>
          </a:p>
        </p:txBody>
      </p:sp>
      <p:sp>
        <p:nvSpPr>
          <p:cNvPr id="7" name="AutoShape 7"/>
          <p:cNvSpPr/>
          <p:nvPr/>
        </p:nvSpPr>
        <p:spPr>
          <a:xfrm>
            <a:off x="3556000" y="1778000"/>
            <a:ext cx="2540000" cy="4191000"/>
          </a:xfrm>
          <a:prstGeom prst="roundRect">
            <a:avLst>
              <a:gd name="adj" fmla="val 60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21200" y="2159000"/>
            <a:ext cx="609600" cy="609600"/>
          </a:xfrm>
          <a:prstGeom prst="rect">
            <a:avLst/>
          </a:prstGeom>
        </p:spPr>
      </p:pic>
      <p:sp>
        <p:nvSpPr>
          <p:cNvPr id="9" name="AutoShape 9"/>
          <p:cNvSpPr/>
          <p:nvPr/>
        </p:nvSpPr>
        <p:spPr>
          <a:xfrm>
            <a:off x="3746500" y="3175000"/>
            <a:ext cx="215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Safety Hazards</a:t>
            </a:r>
            <a:endParaRPr lang="en-US" sz="1100"/>
          </a:p>
        </p:txBody>
      </p:sp>
      <p:sp>
        <p:nvSpPr>
          <p:cNvPr id="10" name="AutoShape 10"/>
          <p:cNvSpPr/>
          <p:nvPr/>
        </p:nvSpPr>
        <p:spPr>
          <a:xfrm>
            <a:off x="3746500" y="3937000"/>
            <a:ext cx="2159000" cy="1905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Internal high voltage (tens of thousands of volts) risks electric shock, and trace X-ray radiation threatens operator health.</a:t>
            </a:r>
            <a:endParaRPr lang="en-US" sz="1100"/>
          </a:p>
        </p:txBody>
      </p:sp>
      <p:sp>
        <p:nvSpPr>
          <p:cNvPr id="11" name="AutoShape 11"/>
          <p:cNvSpPr/>
          <p:nvPr/>
        </p:nvSpPr>
        <p:spPr>
          <a:xfrm>
            <a:off x="6350000" y="1778000"/>
            <a:ext cx="2540000" cy="4191000"/>
          </a:xfrm>
          <a:prstGeom prst="roundRect">
            <a:avLst>
              <a:gd name="adj" fmla="val 60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15200" y="2159000"/>
            <a:ext cx="609600" cy="609600"/>
          </a:xfrm>
          <a:prstGeom prst="rect">
            <a:avLst/>
          </a:prstGeom>
        </p:spPr>
      </p:pic>
      <p:sp>
        <p:nvSpPr>
          <p:cNvPr id="13" name="AutoShape 13"/>
          <p:cNvSpPr/>
          <p:nvPr/>
        </p:nvSpPr>
        <p:spPr>
          <a:xfrm>
            <a:off x="6540500" y="3175000"/>
            <a:ext cx="215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Energy Consumption &amp; Heat</a:t>
            </a:r>
            <a:endParaRPr lang="en-US" sz="1100"/>
          </a:p>
        </p:txBody>
      </p:sp>
      <p:sp>
        <p:nvSpPr>
          <p:cNvPr id="14" name="AutoShape 14"/>
          <p:cNvSpPr/>
          <p:nvPr/>
        </p:nvSpPr>
        <p:spPr>
          <a:xfrm>
            <a:off x="6540500" y="3937000"/>
            <a:ext cx="2159000" cy="1905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Power consumption (25-30W) is much higher than modern displays, generating excessive heat and increasing cooling burdens.</a:t>
            </a:r>
            <a:endParaRPr lang="en-US" sz="1100"/>
          </a:p>
        </p:txBody>
      </p:sp>
      <p:sp>
        <p:nvSpPr>
          <p:cNvPr id="15" name="AutoShape 15"/>
          <p:cNvSpPr/>
          <p:nvPr/>
        </p:nvSpPr>
        <p:spPr>
          <a:xfrm>
            <a:off x="8890000" y="1778000"/>
            <a:ext cx="2540000" cy="4191000"/>
          </a:xfrm>
          <a:prstGeom prst="roundRect">
            <a:avLst>
              <a:gd name="adj" fmla="val 60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855200" y="2159000"/>
            <a:ext cx="609600" cy="609600"/>
          </a:xfrm>
          <a:prstGeom prst="rect">
            <a:avLst/>
          </a:prstGeom>
        </p:spPr>
      </p:pic>
      <p:sp>
        <p:nvSpPr>
          <p:cNvPr id="17" name="AutoShape 17"/>
          <p:cNvSpPr/>
          <p:nvPr/>
        </p:nvSpPr>
        <p:spPr>
          <a:xfrm>
            <a:off x="9080500" y="3175000"/>
            <a:ext cx="215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Volume and Weight</a:t>
            </a:r>
            <a:endParaRPr lang="en-US" sz="1100"/>
          </a:p>
        </p:txBody>
      </p:sp>
      <p:sp>
        <p:nvSpPr>
          <p:cNvPr id="18" name="AutoShape 18"/>
          <p:cNvSpPr/>
          <p:nvPr/>
        </p:nvSpPr>
        <p:spPr>
          <a:xfrm>
            <a:off x="9080500" y="3937000"/>
            <a:ext cx="2159000" cy="1905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Large volume and heavy weight hinder equipment miniaturization and complicate on-site installation and maintenance.</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604000" y="508000"/>
            <a:ext cx="508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Pain Points Faced by Customers</a:t>
            </a:r>
            <a:endParaRPr lang="en-US" sz="1100"/>
          </a:p>
        </p:txBody>
      </p:sp>
      <p:sp>
        <p:nvSpPr>
          <p:cNvPr id="3" name="AutoShape 3"/>
          <p:cNvSpPr/>
          <p:nvPr/>
        </p:nvSpPr>
        <p:spPr>
          <a:xfrm>
            <a:off x="6604000" y="1651000"/>
            <a:ext cx="4953000" cy="1587500"/>
          </a:xfrm>
          <a:prstGeom prst="roundRect">
            <a:avLst>
              <a:gd name="adj" fmla="val 64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58000" y="1968500"/>
            <a:ext cx="609600" cy="609600"/>
          </a:xfrm>
          <a:prstGeom prst="rect">
            <a:avLst/>
          </a:prstGeom>
        </p:spPr>
      </p:pic>
      <p:sp>
        <p:nvSpPr>
          <p:cNvPr id="5" name="AutoShape 5"/>
          <p:cNvSpPr/>
          <p:nvPr/>
        </p:nvSpPr>
        <p:spPr>
          <a:xfrm>
            <a:off x="7747000" y="1841500"/>
            <a:ext cx="3556000" cy="1206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1. Sharp Decline in Display Quality</a:t>
            </a:r>
            <a:endParaRPr lang="en-US" sz="1100"/>
          </a:p>
          <a:p>
            <a:pPr indent="0" algn="l">
              <a:lnSpc>
                <a:spcPct val="100000"/>
              </a:lnSpc>
              <a:spcBef>
                <a:spcPts val="6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Insufficient screen brightness, blurry characters, almost unrecognizable in strong light, increasing the risk of visual fatigue and misoperation.</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6604000" y="3492500"/>
            <a:ext cx="4953000" cy="1587500"/>
          </a:xfrm>
          <a:prstGeom prst="roundRect">
            <a:avLst>
              <a:gd name="adj" fmla="val 64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58000" y="3810000"/>
            <a:ext cx="609600" cy="609600"/>
          </a:xfrm>
          <a:prstGeom prst="rect">
            <a:avLst/>
          </a:prstGeom>
        </p:spPr>
      </p:pic>
      <p:sp>
        <p:nvSpPr>
          <p:cNvPr id="8" name="AutoShape 8"/>
          <p:cNvSpPr/>
          <p:nvPr/>
        </p:nvSpPr>
        <p:spPr>
          <a:xfrm>
            <a:off x="7747000" y="3683000"/>
            <a:ext cx="3556000" cy="1206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2. High &amp; Unsustainable Maintenance Costs</a:t>
            </a:r>
            <a:endParaRPr lang="en-US" sz="1100"/>
          </a:p>
          <a:p>
            <a:pPr indent="0" algn="l">
              <a:lnSpc>
                <a:spcPct val="100000"/>
              </a:lnSpc>
              <a:spcBef>
                <a:spcPts val="6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Original CRTs discontinued; second-hand parts are low-quality, short-lived, and expensive to repair with extremely low ROI.</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604000" y="5080000"/>
            <a:ext cx="4953000" cy="1524000"/>
          </a:xfrm>
          <a:prstGeom prst="roundRect">
            <a:avLst>
              <a:gd name="adj" fmla="val 666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58000" y="5334000"/>
            <a:ext cx="609600" cy="609600"/>
          </a:xfrm>
          <a:prstGeom prst="rect">
            <a:avLst/>
          </a:prstGeom>
        </p:spPr>
      </p:pic>
      <p:sp>
        <p:nvSpPr>
          <p:cNvPr id="11" name="AutoShape 11"/>
          <p:cNvSpPr/>
          <p:nvPr/>
        </p:nvSpPr>
        <p:spPr>
          <a:xfrm>
            <a:off x="7747000" y="5270500"/>
            <a:ext cx="3556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3. Impact on Production Efficiency &amp; Safety</a:t>
            </a:r>
            <a:endParaRPr lang="en-US" sz="1100"/>
          </a:p>
          <a:p>
            <a:pPr indent="0" algn="l">
              <a:lnSpc>
                <a:spcPct val="100000"/>
              </a:lnSpc>
              <a:spcBef>
                <a:spcPts val="6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Blurred display prolongs programming/tool setting; misread parameters may cause scrap or machine collisions.</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2" name="Picture 12"/>
          <p:cNvPicPr>
            <a:picLocks noChangeAspect="1"/>
          </p:cNvPicPr>
          <p:nvPr/>
        </p:nvPicPr>
        <p:blipFill>
          <a:blip r:embed="rId7"/>
          <a:srcRect/>
          <a:stretch>
            <a:fillRect/>
          </a:stretch>
        </p:blipFill>
        <p:spPr>
          <a:xfrm>
            <a:off x="997446" y="1060450"/>
            <a:ext cx="4864100" cy="4864100"/>
          </a:xfrm>
          <a:prstGeom prst="rect">
            <a:avLst/>
          </a:prstGeom>
          <a:noFill/>
          <a:ln w="25400" cap="flat" cmpd="sng">
            <a:noFill/>
            <a:prstDash val="solid"/>
            <a:rou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3333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070600" y="0"/>
            <a:ext cx="50800" cy="6858000"/>
          </a:xfrm>
          <a:prstGeom prst="roundRect">
            <a:avLst>
              <a:gd name="adj" fmla="val 0"/>
            </a:avLst>
          </a:prstGeom>
          <a:solidFill>
            <a:srgbClr val="FF66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1651000"/>
            <a:ext cx="4572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9600" b="1" i="0" u="none" strike="noStrike">
                <a:solidFill>
                  <a:srgbClr val="FF6600"/>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4" name="AutoShape 4"/>
          <p:cNvSpPr/>
          <p:nvPr/>
        </p:nvSpPr>
        <p:spPr>
          <a:xfrm>
            <a:off x="762000" y="3429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Solution</a:t>
            </a:r>
            <a:endParaRPr lang="en-US" sz="1100"/>
          </a:p>
        </p:txBody>
      </p:sp>
      <p:sp>
        <p:nvSpPr>
          <p:cNvPr id="5" name="AutoShape 5"/>
          <p:cNvSpPr/>
          <p:nvPr/>
        </p:nvSpPr>
        <p:spPr>
          <a:xfrm>
            <a:off x="508000" y="4826000"/>
            <a:ext cx="482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CCCCCC"/>
                </a:solidFill>
                <a:latin typeface="Noto Sans SC" panose="020B0200000000000000" charset="-122"/>
                <a:ea typeface="Noto Sans SC" panose="020B0200000000000000" charset="-122"/>
                <a:cs typeface="Noto Sans SC" panose="020B0200000000000000" charset="-122"/>
                <a:sym typeface="Noto Sans SC" panose="020B0200000000000000" charset="-122"/>
              </a:rPr>
              <a:t>Kongto Industrial TFT-LCD Replacement Kit</a:t>
            </a:r>
            <a:endParaRPr lang="en-US" sz="1100"/>
          </a:p>
        </p:txBody>
      </p:sp>
      <p:sp>
        <p:nvSpPr>
          <p:cNvPr id="6" name="AutoShape 6"/>
          <p:cNvSpPr/>
          <p:nvPr/>
        </p:nvSpPr>
        <p:spPr>
          <a:xfrm>
            <a:off x="6731000" y="1016000"/>
            <a:ext cx="4826000" cy="4826000"/>
          </a:xfrm>
          <a:prstGeom prst="roundRect">
            <a:avLst>
              <a:gd name="adj" fmla="val 3157"/>
            </a:avLst>
          </a:prstGeom>
          <a:solidFill>
            <a:srgbClr val="44444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305800" y="1651000"/>
            <a:ext cx="1270000" cy="1270000"/>
          </a:xfrm>
          <a:prstGeom prst="rect">
            <a:avLst/>
          </a:prstGeom>
        </p:spPr>
      </p:pic>
      <p:sp>
        <p:nvSpPr>
          <p:cNvPr id="8" name="AutoShape 8"/>
          <p:cNvSpPr/>
          <p:nvPr/>
        </p:nvSpPr>
        <p:spPr>
          <a:xfrm>
            <a:off x="6985000" y="3302000"/>
            <a:ext cx="431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Plug-and-Play · Seamless Upgrade</a:t>
            </a:r>
            <a:endParaRPr lang="en-US" sz="1100"/>
          </a:p>
        </p:txBody>
      </p:sp>
      <p:sp>
        <p:nvSpPr>
          <p:cNvPr id="9" name="AutoShape 9"/>
          <p:cNvSpPr/>
          <p:nvPr/>
        </p:nvSpPr>
        <p:spPr>
          <a:xfrm>
            <a:off x="6858000" y="4064000"/>
            <a:ext cx="4572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DDDDDD"/>
                </a:solidFill>
                <a:latin typeface="Noto Sans SC" panose="020B0200000000000000" charset="-122"/>
                <a:ea typeface="Noto Sans SC" panose="020B0200000000000000" charset="-122"/>
                <a:cs typeface="Noto Sans SC" panose="020B0200000000000000" charset="-122"/>
                <a:sym typeface="Noto Sans SC" panose="020B0200000000000000" charset="-122"/>
              </a:rPr>
              <a:t>Upgrades CRT to industrial-grade LCD</a:t>
            </a:r>
            <a:br>
              <a:rPr lang="en-US" sz="1300" b="0" i="0" u="none" strike="noStrike">
                <a:solidFill>
                  <a:srgbClr val="DDDDDD"/>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DDDDDD"/>
                </a:solidFill>
                <a:latin typeface="Noto Sans SC" panose="020B0200000000000000" charset="-122"/>
                <a:ea typeface="Noto Sans SC" panose="020B0200000000000000" charset="-122"/>
                <a:cs typeface="Noto Sans SC" panose="020B0200000000000000" charset="-122"/>
                <a:sym typeface="Noto Sans SC" panose="020B0200000000000000" charset="-122"/>
              </a:rPr>
              <a:t>Full compatibility, plug-and-play</a:t>
            </a:r>
            <a:br>
              <a:rPr lang="en-US" sz="1300" b="0" i="0" u="none" strike="noStrike">
                <a:solidFill>
                  <a:srgbClr val="DDDDDD"/>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DDDDDD"/>
                </a:solidFill>
                <a:latin typeface="Noto Sans SC" panose="020B0200000000000000" charset="-122"/>
                <a:ea typeface="Noto Sans SC" panose="020B0200000000000000" charset="-122"/>
                <a:cs typeface="Noto Sans SC" panose="020B0200000000000000" charset="-122"/>
                <a:sym typeface="Noto Sans SC" panose="020B0200000000000000" charset="-122"/>
              </a:rPr>
              <a:t>Industrial-grade reliability &amp; long lifespan</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Technical Specification Comparison</a:t>
            </a:r>
            <a:endParaRPr lang="en-US" sz="1100"/>
          </a:p>
        </p:txBody>
      </p:sp>
      <p:sp>
        <p:nvSpPr>
          <p:cNvPr id="3" name="AutoShape 3"/>
          <p:cNvSpPr/>
          <p:nvPr/>
        </p:nvSpPr>
        <p:spPr>
          <a:xfrm>
            <a:off x="762000" y="1270000"/>
            <a:ext cx="10668000" cy="558800"/>
          </a:xfrm>
          <a:prstGeom prst="roundRect">
            <a:avLst>
              <a:gd name="adj" fmla="val 13636"/>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762000" y="1270000"/>
            <a:ext cx="2159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Feature Comparison</a:t>
            </a:r>
            <a:endParaRPr lang="en-US" sz="1100"/>
          </a:p>
        </p:txBody>
      </p:sp>
      <p:sp>
        <p:nvSpPr>
          <p:cNvPr id="5" name="AutoShape 5"/>
          <p:cNvSpPr/>
          <p:nvPr/>
        </p:nvSpPr>
        <p:spPr>
          <a:xfrm>
            <a:off x="2921000" y="1270000"/>
            <a:ext cx="2413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Original CRT (A61L-0001-0093)</a:t>
            </a:r>
            <a:endParaRPr lang="en-US" sz="1100"/>
          </a:p>
        </p:txBody>
      </p:sp>
      <p:sp>
        <p:nvSpPr>
          <p:cNvPr id="6" name="AutoShape 6"/>
          <p:cNvSpPr/>
          <p:nvPr/>
        </p:nvSpPr>
        <p:spPr>
          <a:xfrm>
            <a:off x="5334000" y="1270000"/>
            <a:ext cx="2413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Industrial LCD Upgrade</a:t>
            </a:r>
            <a:endParaRPr lang="en-US" sz="1100"/>
          </a:p>
        </p:txBody>
      </p:sp>
      <p:sp>
        <p:nvSpPr>
          <p:cNvPr id="7" name="AutoShape 7"/>
          <p:cNvSpPr/>
          <p:nvPr/>
        </p:nvSpPr>
        <p:spPr>
          <a:xfrm>
            <a:off x="7747000" y="1270000"/>
            <a:ext cx="3683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Advantage Interpretation</a:t>
            </a:r>
            <a:endParaRPr lang="en-US" sz="1100"/>
          </a:p>
        </p:txBody>
      </p:sp>
      <p:sp>
        <p:nvSpPr>
          <p:cNvPr id="8" name="AutoShape 8"/>
          <p:cNvSpPr/>
          <p:nvPr/>
        </p:nvSpPr>
        <p:spPr>
          <a:xfrm>
            <a:off x="762000" y="1955800"/>
            <a:ext cx="10668000" cy="609600"/>
          </a:xfrm>
          <a:prstGeom prst="roundRect">
            <a:avLst>
              <a:gd name="adj" fmla="val 8333"/>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825500" y="1955800"/>
            <a:ext cx="2032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Display Technology</a:t>
            </a:r>
            <a:endParaRPr lang="en-US" sz="1100"/>
          </a:p>
        </p:txBody>
      </p:sp>
      <p:sp>
        <p:nvSpPr>
          <p:cNvPr id="10" name="AutoShape 10"/>
          <p:cNvSpPr/>
          <p:nvPr/>
        </p:nvSpPr>
        <p:spPr>
          <a:xfrm>
            <a:off x="2921000" y="1955800"/>
            <a:ext cx="2413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Cathode Ray Tube (CRT)</a:t>
            </a:r>
            <a:endParaRPr lang="en-US" sz="1100"/>
          </a:p>
        </p:txBody>
      </p:sp>
      <p:sp>
        <p:nvSpPr>
          <p:cNvPr id="11" name="AutoShape 11"/>
          <p:cNvSpPr/>
          <p:nvPr/>
        </p:nvSpPr>
        <p:spPr>
          <a:xfrm>
            <a:off x="5334000" y="1955800"/>
            <a:ext cx="2413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6600"/>
                </a:solidFill>
                <a:latin typeface="Noto Sans SC" panose="020B0200000000000000" charset="-122"/>
                <a:ea typeface="Noto Sans SC" panose="020B0200000000000000" charset="-122"/>
                <a:cs typeface="Noto Sans SC" panose="020B0200000000000000" charset="-122"/>
                <a:sym typeface="Noto Sans SC" panose="020B0200000000000000" charset="-122"/>
              </a:rPr>
              <a:t>Industrial TFT-LCD</a:t>
            </a:r>
            <a:endParaRPr lang="en-US" sz="1100"/>
          </a:p>
        </p:txBody>
      </p:sp>
      <p:sp>
        <p:nvSpPr>
          <p:cNvPr id="12" name="AutoShape 12"/>
          <p:cNvSpPr/>
          <p:nvPr/>
        </p:nvSpPr>
        <p:spPr>
          <a:xfrm>
            <a:off x="7747000" y="1955800"/>
            <a:ext cx="3683000" cy="609600"/>
          </a:xfrm>
          <a:prstGeom prst="rect">
            <a:avLst/>
          </a:prstGeom>
          <a:noFill/>
          <a:ln w="12700" cap="flat" cmpd="sng">
            <a:noFill/>
            <a:prstDash val="solid"/>
            <a:round/>
          </a:ln>
        </p:spPr>
        <p:txBody>
          <a:bodyPr vert="horz" wrap="square" lIns="127000" tIns="0" rIns="0" bIns="0" rtlCol="0" anchor="ctr" anchorCtr="0"/>
          <a:lstStyle/>
          <a:p>
            <a:pPr indent="0" algn="l">
              <a:lnSpc>
                <a:spcPct val="125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Tech generation gap, solving CRT's inherent defects.</a:t>
            </a:r>
            <a:endParaRPr lang="en-US" sz="1100"/>
          </a:p>
        </p:txBody>
      </p:sp>
      <p:sp>
        <p:nvSpPr>
          <p:cNvPr id="13" name="AutoShape 13"/>
          <p:cNvSpPr/>
          <p:nvPr/>
        </p:nvSpPr>
        <p:spPr>
          <a:xfrm>
            <a:off x="762000" y="2692400"/>
            <a:ext cx="10668000" cy="609600"/>
          </a:xfrm>
          <a:prstGeom prst="roundRect">
            <a:avLst>
              <a:gd name="adj" fmla="val 833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825500" y="2692400"/>
            <a:ext cx="2032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Resolution</a:t>
            </a:r>
            <a:endParaRPr lang="en-US" sz="1100"/>
          </a:p>
        </p:txBody>
      </p:sp>
      <p:sp>
        <p:nvSpPr>
          <p:cNvPr id="15" name="AutoShape 15"/>
          <p:cNvSpPr/>
          <p:nvPr/>
        </p:nvSpPr>
        <p:spPr>
          <a:xfrm>
            <a:off x="2921000" y="2692400"/>
            <a:ext cx="2413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640×400</a:t>
            </a:r>
            <a:endParaRPr lang="en-US" sz="1100"/>
          </a:p>
        </p:txBody>
      </p:sp>
      <p:sp>
        <p:nvSpPr>
          <p:cNvPr id="16" name="AutoShape 16"/>
          <p:cNvSpPr/>
          <p:nvPr/>
        </p:nvSpPr>
        <p:spPr>
          <a:xfrm>
            <a:off x="5334000" y="2692400"/>
            <a:ext cx="2413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FF6600"/>
                </a:solidFill>
                <a:latin typeface="Noto Sans SC" panose="020B0200000000000000" charset="-122"/>
                <a:ea typeface="Noto Sans SC" panose="020B0200000000000000" charset="-122"/>
                <a:cs typeface="Noto Sans SC" panose="020B0200000000000000" charset="-122"/>
                <a:sym typeface="Noto Sans SC" panose="020B0200000000000000" charset="-122"/>
              </a:rPr>
              <a:t>800×600</a:t>
            </a:r>
            <a:endParaRPr lang="en-US" sz="1100"/>
          </a:p>
        </p:txBody>
      </p:sp>
      <p:sp>
        <p:nvSpPr>
          <p:cNvPr id="17" name="AutoShape 17"/>
          <p:cNvSpPr/>
          <p:nvPr/>
        </p:nvSpPr>
        <p:spPr>
          <a:xfrm>
            <a:off x="7747000" y="2692400"/>
            <a:ext cx="3683000" cy="609600"/>
          </a:xfrm>
          <a:prstGeom prst="rect">
            <a:avLst/>
          </a:prstGeom>
          <a:noFill/>
          <a:ln w="12700" cap="flat" cmpd="sng">
            <a:noFill/>
            <a:prstDash val="solid"/>
            <a:round/>
          </a:ln>
        </p:spPr>
        <p:txBody>
          <a:bodyPr vert="horz" wrap="square" lIns="127000" tIns="0" rIns="0" bIns="0" rtlCol="0" anchor="ctr" anchorCtr="0"/>
          <a:lstStyle/>
          <a:p>
            <a:pPr indent="0" algn="l">
              <a:lnSpc>
                <a:spcPct val="125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Resolution increased &gt;50%, picture clearer.</a:t>
            </a:r>
            <a:endParaRPr lang="en-US" sz="1100"/>
          </a:p>
        </p:txBody>
      </p:sp>
      <p:sp>
        <p:nvSpPr>
          <p:cNvPr id="18" name="AutoShape 18"/>
          <p:cNvSpPr/>
          <p:nvPr/>
        </p:nvSpPr>
        <p:spPr>
          <a:xfrm>
            <a:off x="762000" y="3429000"/>
            <a:ext cx="10668000" cy="609600"/>
          </a:xfrm>
          <a:prstGeom prst="roundRect">
            <a:avLst>
              <a:gd name="adj" fmla="val 8333"/>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825500" y="3429000"/>
            <a:ext cx="2032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Brightness</a:t>
            </a:r>
            <a:endParaRPr lang="en-US" sz="1100"/>
          </a:p>
        </p:txBody>
      </p:sp>
      <p:sp>
        <p:nvSpPr>
          <p:cNvPr id="20" name="AutoShape 20"/>
          <p:cNvSpPr/>
          <p:nvPr/>
        </p:nvSpPr>
        <p:spPr>
          <a:xfrm>
            <a:off x="2921000" y="3429000"/>
            <a:ext cx="2413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Approx. 200 cd/m²</a:t>
            </a:r>
            <a:endParaRPr lang="en-US" sz="1100"/>
          </a:p>
        </p:txBody>
      </p:sp>
      <p:sp>
        <p:nvSpPr>
          <p:cNvPr id="21" name="AutoShape 21"/>
          <p:cNvSpPr/>
          <p:nvPr/>
        </p:nvSpPr>
        <p:spPr>
          <a:xfrm>
            <a:off x="5334000" y="3429000"/>
            <a:ext cx="2413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6600"/>
                </a:solidFill>
                <a:latin typeface="Noto Sans SC" panose="020B0200000000000000" charset="-122"/>
                <a:ea typeface="Noto Sans SC" panose="020B0200000000000000" charset="-122"/>
                <a:cs typeface="Noto Sans SC" panose="020B0200000000000000" charset="-122"/>
                <a:sym typeface="Noto Sans SC" panose="020B0200000000000000" charset="-122"/>
              </a:rPr>
              <a:t>350-450 cd/m²</a:t>
            </a:r>
            <a:endParaRPr lang="en-US" sz="1100"/>
          </a:p>
        </p:txBody>
      </p:sp>
      <p:sp>
        <p:nvSpPr>
          <p:cNvPr id="22" name="AutoShape 22"/>
          <p:cNvSpPr/>
          <p:nvPr/>
        </p:nvSpPr>
        <p:spPr>
          <a:xfrm>
            <a:off x="7747000" y="3429000"/>
            <a:ext cx="3683000" cy="609600"/>
          </a:xfrm>
          <a:prstGeom prst="rect">
            <a:avLst/>
          </a:prstGeom>
          <a:noFill/>
          <a:ln w="12700" cap="flat" cmpd="sng">
            <a:noFill/>
            <a:prstDash val="solid"/>
            <a:round/>
          </a:ln>
        </p:spPr>
        <p:txBody>
          <a:bodyPr vert="horz" wrap="square" lIns="127000" tIns="0" rIns="0" bIns="0" rtlCol="0" anchor="ctr" anchorCtr="0"/>
          <a:lstStyle/>
          <a:p>
            <a:pPr indent="0" algn="l">
              <a:lnSpc>
                <a:spcPct val="125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Brightness doubled, adapts to industrial lighting.</a:t>
            </a:r>
            <a:endParaRPr lang="en-US" sz="1100"/>
          </a:p>
        </p:txBody>
      </p:sp>
      <p:sp>
        <p:nvSpPr>
          <p:cNvPr id="23" name="AutoShape 23"/>
          <p:cNvSpPr/>
          <p:nvPr/>
        </p:nvSpPr>
        <p:spPr>
          <a:xfrm>
            <a:off x="762000" y="4165600"/>
            <a:ext cx="10668000" cy="609600"/>
          </a:xfrm>
          <a:prstGeom prst="roundRect">
            <a:avLst>
              <a:gd name="adj" fmla="val 833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825500" y="4165600"/>
            <a:ext cx="2032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Service Life</a:t>
            </a:r>
            <a:endParaRPr lang="en-US" sz="1100"/>
          </a:p>
        </p:txBody>
      </p:sp>
      <p:sp>
        <p:nvSpPr>
          <p:cNvPr id="25" name="AutoShape 25"/>
          <p:cNvSpPr/>
          <p:nvPr/>
        </p:nvSpPr>
        <p:spPr>
          <a:xfrm>
            <a:off x="2921000" y="4165600"/>
            <a:ext cx="2413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15,000 hours</a:t>
            </a:r>
            <a:endParaRPr lang="en-US" sz="1100"/>
          </a:p>
        </p:txBody>
      </p:sp>
      <p:sp>
        <p:nvSpPr>
          <p:cNvPr id="26" name="AutoShape 26"/>
          <p:cNvSpPr/>
          <p:nvPr/>
        </p:nvSpPr>
        <p:spPr>
          <a:xfrm>
            <a:off x="5334000" y="4165600"/>
            <a:ext cx="2413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6600"/>
                </a:solidFill>
                <a:latin typeface="Noto Sans SC" panose="020B0200000000000000" charset="-122"/>
                <a:ea typeface="Noto Sans SC" panose="020B0200000000000000" charset="-122"/>
                <a:cs typeface="Noto Sans SC" panose="020B0200000000000000" charset="-122"/>
                <a:sym typeface="Noto Sans SC" panose="020B0200000000000000" charset="-122"/>
              </a:rPr>
              <a:t>50,000+ hours</a:t>
            </a:r>
            <a:endParaRPr lang="en-US" sz="1100"/>
          </a:p>
        </p:txBody>
      </p:sp>
      <p:sp>
        <p:nvSpPr>
          <p:cNvPr id="27" name="AutoShape 27"/>
          <p:cNvSpPr/>
          <p:nvPr/>
        </p:nvSpPr>
        <p:spPr>
          <a:xfrm>
            <a:off x="7747000" y="4165600"/>
            <a:ext cx="3683000" cy="609600"/>
          </a:xfrm>
          <a:prstGeom prst="rect">
            <a:avLst/>
          </a:prstGeom>
          <a:noFill/>
          <a:ln w="12700" cap="flat" cmpd="sng">
            <a:noFill/>
            <a:prstDash val="solid"/>
            <a:round/>
          </a:ln>
        </p:spPr>
        <p:txBody>
          <a:bodyPr vert="horz" wrap="square" lIns="127000" tIns="0" rIns="0" bIns="0" rtlCol="0" anchor="ctr" anchorCtr="0"/>
          <a:lstStyle/>
          <a:p>
            <a:pPr indent="0" algn="l">
              <a:lnSpc>
                <a:spcPct val="125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Lifespan ×3+, stable for over 10 years.</a:t>
            </a:r>
            <a:endParaRPr lang="en-US" sz="1100"/>
          </a:p>
        </p:txBody>
      </p:sp>
      <p:sp>
        <p:nvSpPr>
          <p:cNvPr id="28" name="AutoShape 28"/>
          <p:cNvSpPr/>
          <p:nvPr/>
        </p:nvSpPr>
        <p:spPr>
          <a:xfrm>
            <a:off x="762000" y="4902200"/>
            <a:ext cx="10668000" cy="609600"/>
          </a:xfrm>
          <a:prstGeom prst="roundRect">
            <a:avLst>
              <a:gd name="adj" fmla="val 8333"/>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825500" y="4902200"/>
            <a:ext cx="2032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Power Consumption</a:t>
            </a:r>
            <a:endParaRPr lang="en-US" sz="1100"/>
          </a:p>
        </p:txBody>
      </p:sp>
      <p:sp>
        <p:nvSpPr>
          <p:cNvPr id="30" name="AutoShape 30"/>
          <p:cNvSpPr/>
          <p:nvPr/>
        </p:nvSpPr>
        <p:spPr>
          <a:xfrm>
            <a:off x="2921000" y="4902200"/>
            <a:ext cx="2413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25-30W</a:t>
            </a:r>
            <a:endParaRPr lang="en-US" sz="1100"/>
          </a:p>
        </p:txBody>
      </p:sp>
      <p:sp>
        <p:nvSpPr>
          <p:cNvPr id="31" name="AutoShape 31"/>
          <p:cNvSpPr/>
          <p:nvPr/>
        </p:nvSpPr>
        <p:spPr>
          <a:xfrm>
            <a:off x="5334000" y="4902200"/>
            <a:ext cx="2413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FF6600"/>
                </a:solidFill>
                <a:latin typeface="Noto Sans SC" panose="020B0200000000000000" charset="-122"/>
                <a:ea typeface="Noto Sans SC" panose="020B0200000000000000" charset="-122"/>
                <a:cs typeface="Noto Sans SC" panose="020B0200000000000000" charset="-122"/>
                <a:sym typeface="Noto Sans SC" panose="020B0200000000000000" charset="-122"/>
              </a:rPr>
              <a:t>8-12W</a:t>
            </a:r>
            <a:endParaRPr lang="en-US" sz="1100"/>
          </a:p>
        </p:txBody>
      </p:sp>
      <p:sp>
        <p:nvSpPr>
          <p:cNvPr id="32" name="AutoShape 32"/>
          <p:cNvSpPr/>
          <p:nvPr/>
        </p:nvSpPr>
        <p:spPr>
          <a:xfrm>
            <a:off x="7747000" y="4902200"/>
            <a:ext cx="3683000" cy="609600"/>
          </a:xfrm>
          <a:prstGeom prst="rect">
            <a:avLst/>
          </a:prstGeom>
          <a:noFill/>
          <a:ln w="12700" cap="flat" cmpd="sng">
            <a:noFill/>
            <a:prstDash val="solid"/>
            <a:round/>
          </a:ln>
        </p:spPr>
        <p:txBody>
          <a:bodyPr vert="horz" wrap="square" lIns="127000" tIns="0" rIns="0" bIns="0" rtlCol="0" anchor="ctr" anchorCtr="0"/>
          <a:lstStyle/>
          <a:p>
            <a:pPr indent="0" algn="l">
              <a:lnSpc>
                <a:spcPct val="125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Energy saving ~70%, eco-friendly.</a:t>
            </a:r>
            <a:endParaRPr lang="en-US" sz="1100"/>
          </a:p>
        </p:txBody>
      </p:sp>
      <p:sp>
        <p:nvSpPr>
          <p:cNvPr id="33" name="AutoShape 33"/>
          <p:cNvSpPr/>
          <p:nvPr/>
        </p:nvSpPr>
        <p:spPr>
          <a:xfrm>
            <a:off x="762000" y="5638800"/>
            <a:ext cx="5270500" cy="1016000"/>
          </a:xfrm>
          <a:prstGeom prst="roundRect">
            <a:avLst>
              <a:gd name="adj" fmla="val 50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34" name="AutoShape 34"/>
          <p:cNvSpPr/>
          <p:nvPr/>
        </p:nvSpPr>
        <p:spPr>
          <a:xfrm>
            <a:off x="6159500" y="5638800"/>
            <a:ext cx="5270500" cy="1016000"/>
          </a:xfrm>
          <a:prstGeom prst="roundRect">
            <a:avLst>
              <a:gd name="adj" fmla="val 500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35" name="AutoShape 35"/>
          <p:cNvSpPr/>
          <p:nvPr/>
        </p:nvSpPr>
        <p:spPr>
          <a:xfrm>
            <a:off x="889000" y="5689600"/>
            <a:ext cx="1143000" cy="914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Operating Temp</a:t>
            </a:r>
            <a:endParaRPr lang="en-US" sz="1100"/>
          </a:p>
        </p:txBody>
      </p:sp>
      <p:sp>
        <p:nvSpPr>
          <p:cNvPr id="36" name="AutoShape 36"/>
          <p:cNvSpPr/>
          <p:nvPr/>
        </p:nvSpPr>
        <p:spPr>
          <a:xfrm>
            <a:off x="2032000" y="5689600"/>
            <a:ext cx="1397000" cy="914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0-40°C</a:t>
            </a:r>
            <a:endParaRPr lang="en-US" sz="1100"/>
          </a:p>
          <a:p>
            <a:pPr indent="0" algn="ctr">
              <a:lnSpc>
                <a:spcPct val="125000"/>
              </a:lnSpc>
            </a:pPr>
            <a:r>
              <a:rPr lang="en-US" sz="1100" b="1" i="0" u="none" strike="noStrike">
                <a:solidFill>
                  <a:srgbClr val="FF6600"/>
                </a:solidFill>
                <a:latin typeface="Noto Sans SC" panose="020B0200000000000000" charset="-122"/>
                <a:ea typeface="Noto Sans SC" panose="020B0200000000000000" charset="-122"/>
                <a:cs typeface="Noto Sans SC" panose="020B0200000000000000" charset="-122"/>
                <a:sym typeface="Noto Sans SC" panose="020B0200000000000000" charset="-122"/>
              </a:rPr>
              <a:t>-10~+60°C</a:t>
            </a:r>
            <a:endParaRPr lang="en-US" sz="1100" b="1" i="0" u="none" strike="noStrike">
              <a:solidFill>
                <a:srgbClr val="FF66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7" name="AutoShape 37"/>
          <p:cNvSpPr/>
          <p:nvPr/>
        </p:nvSpPr>
        <p:spPr>
          <a:xfrm>
            <a:off x="3556000" y="5689600"/>
            <a:ext cx="1651000" cy="914400"/>
          </a:xfrm>
          <a:prstGeom prst="rect">
            <a:avLst/>
          </a:prstGeom>
          <a:noFill/>
          <a:ln w="12700" cap="flat" cmpd="sng">
            <a:noFill/>
            <a:prstDash val="solid"/>
            <a:round/>
          </a:ln>
        </p:spPr>
        <p:txBody>
          <a:bodyPr vert="horz" wrap="square" lIns="63500" tIns="0" rIns="0" bIns="0" rtlCol="0" anchor="ctr" anchorCtr="0"/>
          <a:lstStyle/>
          <a:p>
            <a:pPr indent="0" algn="l">
              <a:lnSpc>
                <a:spcPct val="125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Wider range for harsh industrial env.</a:t>
            </a:r>
            <a:endParaRPr lang="en-US" sz="1100"/>
          </a:p>
        </p:txBody>
      </p:sp>
      <p:sp>
        <p:nvSpPr>
          <p:cNvPr id="38" name="AutoShape 38"/>
          <p:cNvSpPr/>
          <p:nvPr/>
        </p:nvSpPr>
        <p:spPr>
          <a:xfrm>
            <a:off x="6286500" y="5689600"/>
            <a:ext cx="1143000" cy="914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Radiation/Safety</a:t>
            </a:r>
            <a:endParaRPr lang="en-US" sz="1100"/>
          </a:p>
        </p:txBody>
      </p:sp>
      <p:sp>
        <p:nvSpPr>
          <p:cNvPr id="39" name="AutoShape 39"/>
          <p:cNvSpPr/>
          <p:nvPr/>
        </p:nvSpPr>
        <p:spPr>
          <a:xfrm>
            <a:off x="7429500" y="5689600"/>
            <a:ext cx="1397000" cy="914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High voltage/X-ray</a:t>
            </a:r>
            <a:endParaRPr lang="en-US" sz="1100"/>
          </a:p>
          <a:p>
            <a:pPr indent="0" algn="ctr">
              <a:lnSpc>
                <a:spcPct val="125000"/>
              </a:lnSpc>
            </a:pPr>
            <a:r>
              <a:rPr lang="en-US" sz="1000" b="1" i="0" u="none" strike="noStrike">
                <a:solidFill>
                  <a:srgbClr val="FF6600"/>
                </a:solidFill>
                <a:latin typeface="Noto Sans SC" panose="020B0200000000000000" charset="-122"/>
                <a:ea typeface="Noto Sans SC" panose="020B0200000000000000" charset="-122"/>
                <a:cs typeface="Noto Sans SC" panose="020B0200000000000000" charset="-122"/>
                <a:sym typeface="Noto Sans SC" panose="020B0200000000000000" charset="-122"/>
              </a:rPr>
              <a:t>Radiation-free</a:t>
            </a:r>
            <a:endParaRPr lang="en-US" sz="1000" b="1" i="0" u="none" strike="noStrike">
              <a:solidFill>
                <a:srgbClr val="FF66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 name="AutoShape 40"/>
          <p:cNvSpPr/>
          <p:nvPr/>
        </p:nvSpPr>
        <p:spPr>
          <a:xfrm>
            <a:off x="8890000" y="5689600"/>
            <a:ext cx="2413000" cy="914400"/>
          </a:xfrm>
          <a:prstGeom prst="rect">
            <a:avLst/>
          </a:prstGeom>
          <a:noFill/>
          <a:ln w="12700" cap="flat" cmpd="sng">
            <a:noFill/>
            <a:prstDash val="solid"/>
            <a:round/>
          </a:ln>
        </p:spPr>
        <p:txBody>
          <a:bodyPr vert="horz" wrap="square" lIns="63500" tIns="0" rIns="0" bIns="0" rtlCol="0" anchor="ctr" anchorCtr="0"/>
          <a:lstStyle/>
          <a:p>
            <a:pPr indent="0" algn="l">
              <a:lnSpc>
                <a:spcPct val="125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Eliminate hazards, protect health.</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Plug-and-Play Design Concept</a:t>
            </a:r>
            <a:endParaRPr lang="en-US" sz="1100"/>
          </a:p>
        </p:txBody>
      </p:sp>
      <p:sp>
        <p:nvSpPr>
          <p:cNvPr id="3" name="AutoShape 3"/>
          <p:cNvSpPr/>
          <p:nvPr/>
        </p:nvSpPr>
        <p:spPr>
          <a:xfrm>
            <a:off x="762000" y="1524000"/>
            <a:ext cx="5207000" cy="1397000"/>
          </a:xfrm>
          <a:prstGeom prst="roundRect">
            <a:avLst>
              <a:gd name="adj" fmla="val 727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841500"/>
            <a:ext cx="609600" cy="609600"/>
          </a:xfrm>
          <a:prstGeom prst="rect">
            <a:avLst/>
          </a:prstGeom>
        </p:spPr>
      </p:pic>
      <p:sp>
        <p:nvSpPr>
          <p:cNvPr id="5" name="AutoShape 5"/>
          <p:cNvSpPr/>
          <p:nvPr/>
        </p:nvSpPr>
        <p:spPr>
          <a:xfrm>
            <a:off x="1905000" y="1714500"/>
            <a:ext cx="381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Fully Compatible Interface</a:t>
            </a:r>
            <a:endParaRPr lang="en-US" sz="1100"/>
          </a:p>
          <a:p>
            <a:pPr indent="0" algn="l">
              <a:lnSpc>
                <a:spcPct val="108000"/>
              </a:lnSpc>
              <a:spcBef>
                <a:spcPts val="600"/>
              </a:spcBef>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The signal input interface is completely consistent with the original CRT, directly connected, no need to change the circuit.</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6223000" y="1524000"/>
            <a:ext cx="5207000" cy="1397000"/>
          </a:xfrm>
          <a:prstGeom prst="roundRect">
            <a:avLst>
              <a:gd name="adj" fmla="val 727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841500"/>
            <a:ext cx="609600" cy="609600"/>
          </a:xfrm>
          <a:prstGeom prst="rect">
            <a:avLst/>
          </a:prstGeom>
        </p:spPr>
      </p:pic>
      <p:sp>
        <p:nvSpPr>
          <p:cNvPr id="8" name="AutoShape 8"/>
          <p:cNvSpPr/>
          <p:nvPr/>
        </p:nvSpPr>
        <p:spPr>
          <a:xfrm>
            <a:off x="7366000" y="1714500"/>
            <a:ext cx="381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Built-in Signal Conversion</a:t>
            </a:r>
            <a:endParaRPr lang="en-US" sz="1100"/>
          </a:p>
          <a:p>
            <a:pPr indent="0" algn="l">
              <a:lnSpc>
                <a:spcPct val="108000"/>
              </a:lnSpc>
              <a:spcBef>
                <a:spcPts val="600"/>
              </a:spcBef>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The module integrates a dedicated signal conversion board to perfectly convert the FANUC system signal.</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62000" y="3175000"/>
            <a:ext cx="5207000" cy="1397000"/>
          </a:xfrm>
          <a:prstGeom prst="roundRect">
            <a:avLst>
              <a:gd name="adj" fmla="val 727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492500"/>
            <a:ext cx="609600" cy="609600"/>
          </a:xfrm>
          <a:prstGeom prst="rect">
            <a:avLst/>
          </a:prstGeom>
        </p:spPr>
      </p:pic>
      <p:sp>
        <p:nvSpPr>
          <p:cNvPr id="11" name="AutoShape 11"/>
          <p:cNvSpPr/>
          <p:nvPr/>
        </p:nvSpPr>
        <p:spPr>
          <a:xfrm>
            <a:off x="1905000" y="3365500"/>
            <a:ext cx="381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Integrated Power Supply</a:t>
            </a:r>
            <a:endParaRPr lang="en-US" sz="1100"/>
          </a:p>
          <a:p>
            <a:pPr indent="0" algn="l">
              <a:lnSpc>
                <a:spcPct val="108000"/>
              </a:lnSpc>
              <a:spcBef>
                <a:spcPts val="600"/>
              </a:spcBef>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Built-in wide voltage adaptive power supply, directly using the original power supply of the machine tool.</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6223000" y="3175000"/>
            <a:ext cx="5207000" cy="1397000"/>
          </a:xfrm>
          <a:prstGeom prst="roundRect">
            <a:avLst>
              <a:gd name="adj" fmla="val 727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492500"/>
            <a:ext cx="609600" cy="609600"/>
          </a:xfrm>
          <a:prstGeom prst="rect">
            <a:avLst/>
          </a:prstGeom>
        </p:spPr>
      </p:pic>
      <p:sp>
        <p:nvSpPr>
          <p:cNvPr id="14" name="AutoShape 14"/>
          <p:cNvSpPr/>
          <p:nvPr/>
        </p:nvSpPr>
        <p:spPr>
          <a:xfrm>
            <a:off x="7366000" y="3365500"/>
            <a:ext cx="381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OSD Menu Control</a:t>
            </a:r>
            <a:endParaRPr lang="en-US" sz="1100"/>
          </a:p>
          <a:p>
            <a:pPr indent="0" algn="l">
              <a:lnSpc>
                <a:spcPct val="108000"/>
              </a:lnSpc>
              <a:spcBef>
                <a:spcPts val="600"/>
              </a:spcBef>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Support calling up the menu through physical buttons to easily adjust brightness, contrast and other parameters.</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5" name="Picture 15"/>
          <p:cNvPicPr>
            <a:picLocks noChangeAspect="1"/>
          </p:cNvPicPr>
          <p:nvPr/>
        </p:nvPicPr>
        <p:blipFill>
          <a:blip r:embed="rId9"/>
          <a:srcRect t="19668" b="19668"/>
          <a:stretch>
            <a:fillRect/>
          </a:stretch>
        </p:blipFill>
        <p:spPr>
          <a:xfrm>
            <a:off x="762000" y="4826000"/>
            <a:ext cx="5207000" cy="1778000"/>
          </a:xfrm>
          <a:prstGeom prst="roundRect">
            <a:avLst>
              <a:gd name="adj" fmla="val 5714"/>
            </a:avLst>
          </a:prstGeom>
          <a:noFill/>
          <a:ln w="12700" cap="flat" cmpd="sng">
            <a:solidFill>
              <a:srgbClr val="E5E7EB">
                <a:alpha val="100000"/>
              </a:srgbClr>
            </a:solidFill>
            <a:prstDash val="solid"/>
            <a:round/>
          </a:ln>
        </p:spPr>
      </p:pic>
      <p:pic>
        <p:nvPicPr>
          <p:cNvPr id="16" name="Picture 16"/>
          <p:cNvPicPr>
            <a:picLocks noChangeAspect="1"/>
          </p:cNvPicPr>
          <p:nvPr/>
        </p:nvPicPr>
        <p:blipFill>
          <a:blip r:embed="rId10"/>
          <a:srcRect t="27759" b="27759"/>
          <a:stretch>
            <a:fillRect/>
          </a:stretch>
        </p:blipFill>
        <p:spPr>
          <a:xfrm>
            <a:off x="6223000" y="4826000"/>
            <a:ext cx="5207000" cy="1778000"/>
          </a:xfrm>
          <a:prstGeom prst="roundRect">
            <a:avLst>
              <a:gd name="adj" fmla="val 5714"/>
            </a:avLst>
          </a:prstGeom>
          <a:noFill/>
          <a:ln w="12700" cap="flat" cmpd="sng">
            <a:solidFill>
              <a:srgbClr val="E5E7EB">
                <a:alpha val="100000"/>
              </a:srgbClr>
            </a:solidFill>
            <a:prstDash val="solid"/>
            <a:rou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3333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4318000" y="762000"/>
            <a:ext cx="50800" cy="5334000"/>
          </a:xfrm>
          <a:prstGeom prst="roundRect">
            <a:avLst>
              <a:gd name="adj" fmla="val 0"/>
            </a:avLst>
          </a:prstGeom>
          <a:solidFill>
            <a:srgbClr val="FF66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1778000"/>
            <a:ext cx="3302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0" b="1" i="0" u="none" strike="noStrike">
                <a:solidFill>
                  <a:srgbClr val="FF6600"/>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5" name="AutoShape 5"/>
          <p:cNvSpPr/>
          <p:nvPr/>
        </p:nvSpPr>
        <p:spPr>
          <a:xfrm>
            <a:off x="508000" y="3683000"/>
            <a:ext cx="3556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Installation Implementation Details</a:t>
            </a:r>
            <a:endParaRPr lang="en-US" sz="1100"/>
          </a:p>
        </p:txBody>
      </p:sp>
      <p:sp>
        <p:nvSpPr>
          <p:cNvPr id="6" name="AutoShape 6"/>
          <p:cNvSpPr/>
          <p:nvPr/>
        </p:nvSpPr>
        <p:spPr>
          <a:xfrm>
            <a:off x="508000" y="4953000"/>
            <a:ext cx="355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CCCCC"/>
                </a:solidFill>
                <a:latin typeface="Noto Sans SC" panose="020B0200000000000000" charset="-122"/>
                <a:ea typeface="Noto Sans SC" panose="020B0200000000000000" charset="-122"/>
                <a:cs typeface="Noto Sans SC" panose="020B0200000000000000" charset="-122"/>
                <a:sym typeface="Noto Sans SC" panose="020B0200000000000000" charset="-122"/>
              </a:rPr>
              <a:t>Five Steps to Complete the Upgrade · 30 Minutes Quick Fix</a:t>
            </a:r>
            <a:endParaRPr lang="en-US" sz="1100"/>
          </a:p>
        </p:txBody>
      </p:sp>
      <p:sp>
        <p:nvSpPr>
          <p:cNvPr id="7" name="AutoShape 7"/>
          <p:cNvSpPr/>
          <p:nvPr/>
        </p:nvSpPr>
        <p:spPr>
          <a:xfrm>
            <a:off x="4826000" y="1016000"/>
            <a:ext cx="1320800" cy="4826000"/>
          </a:xfrm>
          <a:prstGeom prst="roundRect">
            <a:avLst>
              <a:gd name="adj" fmla="val 0"/>
            </a:avLst>
          </a:prstGeom>
          <a:solidFill>
            <a:srgbClr val="4A4A4A">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4826000" y="1016000"/>
            <a:ext cx="1320800" cy="76200"/>
          </a:xfrm>
          <a:prstGeom prst="roundRect">
            <a:avLst>
              <a:gd name="adj" fmla="val 0"/>
            </a:avLst>
          </a:prstGeom>
          <a:solidFill>
            <a:srgbClr val="FF66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207000" y="1651000"/>
            <a:ext cx="558800" cy="558800"/>
          </a:xfrm>
          <a:prstGeom prst="rect">
            <a:avLst/>
          </a:prstGeom>
        </p:spPr>
      </p:pic>
      <p:sp>
        <p:nvSpPr>
          <p:cNvPr id="10" name="AutoShape 10"/>
          <p:cNvSpPr/>
          <p:nvPr/>
        </p:nvSpPr>
        <p:spPr>
          <a:xfrm>
            <a:off x="4826000" y="2667000"/>
            <a:ext cx="13208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01</a:t>
            </a:r>
            <a:endParaRPr lang="en-US" sz="1100"/>
          </a:p>
        </p:txBody>
      </p:sp>
      <p:sp>
        <p:nvSpPr>
          <p:cNvPr id="11" name="AutoShape 11"/>
          <p:cNvSpPr/>
          <p:nvPr/>
        </p:nvSpPr>
        <p:spPr>
          <a:xfrm>
            <a:off x="4826000" y="3429000"/>
            <a:ext cx="13208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Scheme Confirmation</a:t>
            </a:r>
            <a:endParaRPr lang="en-US" sz="1100"/>
          </a:p>
        </p:txBody>
      </p:sp>
      <p:sp>
        <p:nvSpPr>
          <p:cNvPr id="12" name="AutoShape 12"/>
          <p:cNvSpPr/>
          <p:nvPr/>
        </p:nvSpPr>
        <p:spPr>
          <a:xfrm>
            <a:off x="4914900" y="4191000"/>
            <a:ext cx="1143000" cy="1524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1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Confirm the model and installation plan, prepare tools and materials.</a:t>
            </a:r>
            <a:endParaRPr lang="en-US" sz="1100"/>
          </a:p>
        </p:txBody>
      </p:sp>
      <p:sp>
        <p:nvSpPr>
          <p:cNvPr id="13" name="AutoShape 13"/>
          <p:cNvSpPr/>
          <p:nvPr/>
        </p:nvSpPr>
        <p:spPr>
          <a:xfrm>
            <a:off x="6350000" y="1016000"/>
            <a:ext cx="1320800" cy="4826000"/>
          </a:xfrm>
          <a:prstGeom prst="roundRect">
            <a:avLst>
              <a:gd name="adj" fmla="val 0"/>
            </a:avLst>
          </a:prstGeom>
          <a:solidFill>
            <a:srgbClr val="4A4A4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350000" y="1016000"/>
            <a:ext cx="1320800" cy="76200"/>
          </a:xfrm>
          <a:prstGeom prst="roundRect">
            <a:avLst>
              <a:gd name="adj" fmla="val 0"/>
            </a:avLst>
          </a:prstGeom>
          <a:solidFill>
            <a:srgbClr val="FF66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0" y="1651000"/>
            <a:ext cx="558800" cy="558800"/>
          </a:xfrm>
          <a:prstGeom prst="rect">
            <a:avLst/>
          </a:prstGeom>
        </p:spPr>
      </p:pic>
      <p:sp>
        <p:nvSpPr>
          <p:cNvPr id="16" name="AutoShape 16"/>
          <p:cNvSpPr/>
          <p:nvPr/>
        </p:nvSpPr>
        <p:spPr>
          <a:xfrm>
            <a:off x="6350000" y="2667000"/>
            <a:ext cx="13208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02</a:t>
            </a:r>
            <a:endParaRPr lang="en-US" sz="1100"/>
          </a:p>
        </p:txBody>
      </p:sp>
      <p:sp>
        <p:nvSpPr>
          <p:cNvPr id="17" name="AutoShape 17"/>
          <p:cNvSpPr/>
          <p:nvPr/>
        </p:nvSpPr>
        <p:spPr>
          <a:xfrm>
            <a:off x="6350000" y="3429000"/>
            <a:ext cx="13208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Power-off Operation</a:t>
            </a:r>
            <a:endParaRPr lang="en-US" sz="1100"/>
          </a:p>
        </p:txBody>
      </p:sp>
      <p:sp>
        <p:nvSpPr>
          <p:cNvPr id="18" name="AutoShape 18"/>
          <p:cNvSpPr/>
          <p:nvPr/>
        </p:nvSpPr>
        <p:spPr>
          <a:xfrm>
            <a:off x="6438900" y="4191000"/>
            <a:ext cx="1143000" cy="1524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1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Turn off the main power supply of the machine tool and wait for the capacitor to discharge completely.</a:t>
            </a:r>
            <a:endParaRPr lang="en-US" sz="1100"/>
          </a:p>
        </p:txBody>
      </p:sp>
      <p:sp>
        <p:nvSpPr>
          <p:cNvPr id="19" name="AutoShape 19"/>
          <p:cNvSpPr/>
          <p:nvPr/>
        </p:nvSpPr>
        <p:spPr>
          <a:xfrm>
            <a:off x="7874000" y="1016000"/>
            <a:ext cx="1320800" cy="4826000"/>
          </a:xfrm>
          <a:prstGeom prst="roundRect">
            <a:avLst>
              <a:gd name="adj" fmla="val 0"/>
            </a:avLst>
          </a:prstGeom>
          <a:solidFill>
            <a:srgbClr val="4A4A4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874000" y="1016000"/>
            <a:ext cx="1320800" cy="76200"/>
          </a:xfrm>
          <a:prstGeom prst="roundRect">
            <a:avLst>
              <a:gd name="adj" fmla="val 0"/>
            </a:avLst>
          </a:prstGeom>
          <a:solidFill>
            <a:srgbClr val="FF66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0" y="1651000"/>
            <a:ext cx="558800" cy="558800"/>
          </a:xfrm>
          <a:prstGeom prst="rect">
            <a:avLst/>
          </a:prstGeom>
        </p:spPr>
      </p:pic>
      <p:sp>
        <p:nvSpPr>
          <p:cNvPr id="22" name="AutoShape 22"/>
          <p:cNvSpPr/>
          <p:nvPr/>
        </p:nvSpPr>
        <p:spPr>
          <a:xfrm>
            <a:off x="7874000" y="2667000"/>
            <a:ext cx="13208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03</a:t>
            </a:r>
            <a:endParaRPr lang="en-US" sz="1100"/>
          </a:p>
        </p:txBody>
      </p:sp>
      <p:sp>
        <p:nvSpPr>
          <p:cNvPr id="23" name="AutoShape 23"/>
          <p:cNvSpPr/>
          <p:nvPr/>
        </p:nvSpPr>
        <p:spPr>
          <a:xfrm>
            <a:off x="7874000" y="3429000"/>
            <a:ext cx="13208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Equipment Installation</a:t>
            </a:r>
            <a:endParaRPr lang="en-US" sz="1100"/>
          </a:p>
        </p:txBody>
      </p:sp>
      <p:sp>
        <p:nvSpPr>
          <p:cNvPr id="24" name="AutoShape 24"/>
          <p:cNvSpPr/>
          <p:nvPr/>
        </p:nvSpPr>
        <p:spPr>
          <a:xfrm>
            <a:off x="7962900" y="4191000"/>
            <a:ext cx="1143000" cy="1524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1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Remove the old CRT and install the new LCD kit.</a:t>
            </a:r>
            <a:endParaRPr lang="en-US" sz="1100"/>
          </a:p>
        </p:txBody>
      </p:sp>
      <p:sp>
        <p:nvSpPr>
          <p:cNvPr id="25" name="AutoShape 25"/>
          <p:cNvSpPr/>
          <p:nvPr/>
        </p:nvSpPr>
        <p:spPr>
          <a:xfrm>
            <a:off x="9398000" y="1016000"/>
            <a:ext cx="1320800" cy="4826000"/>
          </a:xfrm>
          <a:prstGeom prst="roundRect">
            <a:avLst>
              <a:gd name="adj" fmla="val 0"/>
            </a:avLst>
          </a:prstGeom>
          <a:solidFill>
            <a:srgbClr val="4A4A4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9398000" y="1016000"/>
            <a:ext cx="1320800" cy="76200"/>
          </a:xfrm>
          <a:prstGeom prst="roundRect">
            <a:avLst>
              <a:gd name="adj" fmla="val 0"/>
            </a:avLst>
          </a:prstGeom>
          <a:solidFill>
            <a:srgbClr val="FF66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79000" y="1651000"/>
            <a:ext cx="558800" cy="558800"/>
          </a:xfrm>
          <a:prstGeom prst="rect">
            <a:avLst/>
          </a:prstGeom>
        </p:spPr>
      </p:pic>
      <p:sp>
        <p:nvSpPr>
          <p:cNvPr id="28" name="AutoShape 28"/>
          <p:cNvSpPr/>
          <p:nvPr/>
        </p:nvSpPr>
        <p:spPr>
          <a:xfrm>
            <a:off x="9398000" y="2667000"/>
            <a:ext cx="13208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04</a:t>
            </a:r>
            <a:endParaRPr lang="en-US" sz="1100"/>
          </a:p>
        </p:txBody>
      </p:sp>
      <p:sp>
        <p:nvSpPr>
          <p:cNvPr id="29" name="AutoShape 29"/>
          <p:cNvSpPr/>
          <p:nvPr/>
        </p:nvSpPr>
        <p:spPr>
          <a:xfrm>
            <a:off x="9398000" y="3429000"/>
            <a:ext cx="13208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Power-on Debugging</a:t>
            </a:r>
            <a:endParaRPr lang="en-US" sz="1100"/>
          </a:p>
        </p:txBody>
      </p:sp>
      <p:sp>
        <p:nvSpPr>
          <p:cNvPr id="30" name="AutoShape 30"/>
          <p:cNvSpPr/>
          <p:nvPr/>
        </p:nvSpPr>
        <p:spPr>
          <a:xfrm>
            <a:off x="9486900" y="4191000"/>
            <a:ext cx="1143000" cy="1524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1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Restore the power supply, test the display effect, and fine-tune the parameters.</a:t>
            </a:r>
            <a:endParaRPr lang="en-US" sz="1100"/>
          </a:p>
        </p:txBody>
      </p:sp>
      <p:sp>
        <p:nvSpPr>
          <p:cNvPr id="31" name="AutoShape 31"/>
          <p:cNvSpPr/>
          <p:nvPr/>
        </p:nvSpPr>
        <p:spPr>
          <a:xfrm>
            <a:off x="10820400" y="1016000"/>
            <a:ext cx="1219200" cy="4826000"/>
          </a:xfrm>
          <a:prstGeom prst="roundRect">
            <a:avLst>
              <a:gd name="adj" fmla="val 0"/>
            </a:avLst>
          </a:prstGeom>
          <a:solidFill>
            <a:srgbClr val="4A4A4A">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10820400" y="1016000"/>
            <a:ext cx="1219200" cy="76200"/>
          </a:xfrm>
          <a:prstGeom prst="roundRect">
            <a:avLst>
              <a:gd name="adj" fmla="val 0"/>
            </a:avLst>
          </a:prstGeom>
          <a:solidFill>
            <a:srgbClr val="FF66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074400" y="1651000"/>
            <a:ext cx="558800" cy="558800"/>
          </a:xfrm>
          <a:prstGeom prst="rect">
            <a:avLst/>
          </a:prstGeom>
        </p:spPr>
      </p:pic>
      <p:sp>
        <p:nvSpPr>
          <p:cNvPr id="34" name="AutoShape 34"/>
          <p:cNvSpPr/>
          <p:nvPr/>
        </p:nvSpPr>
        <p:spPr>
          <a:xfrm>
            <a:off x="10820400" y="2667000"/>
            <a:ext cx="1219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05</a:t>
            </a:r>
            <a:endParaRPr lang="en-US" sz="1100"/>
          </a:p>
        </p:txBody>
      </p:sp>
      <p:sp>
        <p:nvSpPr>
          <p:cNvPr id="35" name="AutoShape 35"/>
          <p:cNvSpPr/>
          <p:nvPr/>
        </p:nvSpPr>
        <p:spPr>
          <a:xfrm>
            <a:off x="10820400" y="3429000"/>
            <a:ext cx="12192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Normal Operation</a:t>
            </a:r>
            <a:endParaRPr lang="en-US" sz="1100"/>
          </a:p>
        </p:txBody>
      </p:sp>
      <p:sp>
        <p:nvSpPr>
          <p:cNvPr id="36" name="AutoShape 36"/>
          <p:cNvSpPr/>
          <p:nvPr/>
        </p:nvSpPr>
        <p:spPr>
          <a:xfrm>
            <a:off x="10883900" y="4191000"/>
            <a:ext cx="1092200" cy="1524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1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Confirm that everything is normal and hand over to the customer for use.</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Installation Steps (1-3)</a:t>
            </a:r>
            <a:endParaRPr lang="en-US" sz="1100"/>
          </a:p>
        </p:txBody>
      </p:sp>
      <p:sp>
        <p:nvSpPr>
          <p:cNvPr id="3" name="AutoShape 3"/>
          <p:cNvSpPr/>
          <p:nvPr/>
        </p:nvSpPr>
        <p:spPr>
          <a:xfrm>
            <a:off x="762000" y="1397000"/>
            <a:ext cx="10668000" cy="1206500"/>
          </a:xfrm>
          <a:prstGeom prst="roundRect">
            <a:avLst>
              <a:gd name="adj" fmla="val 8421"/>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1714500"/>
            <a:ext cx="558800" cy="558800"/>
          </a:xfrm>
          <a:prstGeom prst="rect">
            <a:avLst/>
          </a:prstGeom>
        </p:spPr>
      </p:pic>
      <p:sp>
        <p:nvSpPr>
          <p:cNvPr id="5" name="AutoShape 5"/>
          <p:cNvSpPr/>
          <p:nvPr/>
        </p:nvSpPr>
        <p:spPr>
          <a:xfrm>
            <a:off x="1905000" y="1549400"/>
            <a:ext cx="914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Preparation: Safety First</a:t>
            </a:r>
            <a:endParaRPr lang="en-US" sz="1100"/>
          </a:p>
          <a:p>
            <a:pPr indent="0" algn="l">
              <a:lnSpc>
                <a:spcPct val="125000"/>
              </a:lnSpc>
            </a:pP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1. Prepare tools (Phillips screwdriver, anti-static wristband) to prevent electrostatic damage. 2. Turn off the main power and wait 10+ minutes for full discharge.</a:t>
            </a:r>
            <a:endPar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2921000"/>
            <a:ext cx="3302000" cy="3302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7" name="AutoShape 7"/>
          <p:cNvSpPr/>
          <p:nvPr/>
        </p:nvSpPr>
        <p:spPr>
          <a:xfrm>
            <a:off x="762000" y="2921000"/>
            <a:ext cx="3302000" cy="762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3238500"/>
            <a:ext cx="2921000" cy="266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a:p>
            <a:pPr indent="0" algn="l">
              <a:lnSpc>
                <a:spcPct val="100000"/>
              </a:lnSpc>
              <a:spcBef>
                <a:spcPts val="600"/>
              </a:spcBef>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Remove CRT Display</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800"/>
              </a:spcBef>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Remove the plastic housing of the panel.</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Unscrew the four CRT fixing screws.</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Disconnect the signal/power cables.</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4445000" y="2921000"/>
            <a:ext cx="3302000" cy="3302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nvSpPr>
        <p:spPr>
          <a:xfrm>
            <a:off x="4445000" y="2921000"/>
            <a:ext cx="3302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635500" y="3238500"/>
            <a:ext cx="2921000" cy="266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a:p>
            <a:pPr indent="0" algn="l">
              <a:lnSpc>
                <a:spcPct val="100000"/>
              </a:lnSpc>
              <a:spcBef>
                <a:spcPts val="600"/>
              </a:spcBef>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Install LCD Kit</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800"/>
              </a:spcBef>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Place the LCD kit into position.</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Align and tighten the screws.</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Ensure no screen obstruction.</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8128000" y="2921000"/>
            <a:ext cx="3302000" cy="3302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3" name="AutoShape 13"/>
          <p:cNvSpPr/>
          <p:nvPr/>
        </p:nvSpPr>
        <p:spPr>
          <a:xfrm>
            <a:off x="8128000" y="2921000"/>
            <a:ext cx="3302000" cy="762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318500" y="3238500"/>
            <a:ext cx="2921000" cy="266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a:p>
            <a:pPr indent="0" algn="l">
              <a:lnSpc>
                <a:spcPct val="100000"/>
              </a:lnSpc>
              <a:spcBef>
                <a:spcPts val="600"/>
              </a:spcBef>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Connect Cables</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800"/>
              </a:spcBef>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Connect signal cable to LCD.</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Connect power cable properly.</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Check all connections are secure.</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Installation Steps &amp; Effect Demonstration</a:t>
            </a:r>
            <a:endParaRPr lang="en-US" sz="1100"/>
          </a:p>
        </p:txBody>
      </p:sp>
      <p:sp>
        <p:nvSpPr>
          <p:cNvPr id="3" name="AutoShape 3"/>
          <p:cNvSpPr/>
          <p:nvPr/>
        </p:nvSpPr>
        <p:spPr>
          <a:xfrm>
            <a:off x="762000" y="1651000"/>
            <a:ext cx="5080000" cy="1714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 y="1841500"/>
            <a:ext cx="63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5" name="AutoShape 5"/>
          <p:cNvSpPr/>
          <p:nvPr/>
        </p:nvSpPr>
        <p:spPr>
          <a:xfrm>
            <a:off x="1905000" y="1905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Power-on Test &amp; Debugging</a:t>
            </a:r>
            <a:endParaRPr lang="en-US" sz="1100"/>
          </a:p>
        </p:txBody>
      </p:sp>
      <p:sp>
        <p:nvSpPr>
          <p:cNvPr id="6" name="AutoShape 6"/>
          <p:cNvSpPr/>
          <p:nvPr/>
        </p:nvSpPr>
        <p:spPr>
          <a:xfrm>
            <a:off x="1905000" y="2413000"/>
            <a:ext cx="3683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Restore main power and test all functions.</a:t>
            </a:r>
            <a:b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Adjust brightness/contrast via OSD for optimal display.</a:t>
            </a:r>
            <a:endParaRPr lang="en-US" sz="1100"/>
          </a:p>
        </p:txBody>
      </p:sp>
      <p:sp>
        <p:nvSpPr>
          <p:cNvPr id="7" name="AutoShape 7"/>
          <p:cNvSpPr/>
          <p:nvPr/>
        </p:nvSpPr>
        <p:spPr>
          <a:xfrm>
            <a:off x="762000" y="3556000"/>
            <a:ext cx="5080000" cy="1714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1016000" y="3746500"/>
            <a:ext cx="63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9" name="AutoShape 9"/>
          <p:cNvSpPr/>
          <p:nvPr/>
        </p:nvSpPr>
        <p:spPr>
          <a:xfrm>
            <a:off x="1905000" y="3810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Completion &amp; Acceptance</a:t>
            </a:r>
            <a:endParaRPr lang="en-US" sz="1100"/>
          </a:p>
        </p:txBody>
      </p:sp>
      <p:sp>
        <p:nvSpPr>
          <p:cNvPr id="10" name="AutoShape 10"/>
          <p:cNvSpPr/>
          <p:nvPr/>
        </p:nvSpPr>
        <p:spPr>
          <a:xfrm>
            <a:off x="1905000" y="4318000"/>
            <a:ext cx="3683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Ensure all parameters display clearly.</a:t>
            </a:r>
            <a:b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Clean up site and complete handover.</a:t>
            </a:r>
            <a:endParaRPr lang="en-US" sz="1100"/>
          </a:p>
        </p:txBody>
      </p:sp>
      <p:sp>
        <p:nvSpPr>
          <p:cNvPr id="11" name="AutoShape 11"/>
          <p:cNvSpPr/>
          <p:nvPr/>
        </p:nvSpPr>
        <p:spPr>
          <a:xfrm>
            <a:off x="762000" y="5397500"/>
            <a:ext cx="5080000" cy="11430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5689600"/>
            <a:ext cx="558800" cy="558800"/>
          </a:xfrm>
          <a:prstGeom prst="rect">
            <a:avLst/>
          </a:prstGeom>
        </p:spPr>
      </p:pic>
      <p:sp>
        <p:nvSpPr>
          <p:cNvPr id="13" name="AutoShape 13"/>
          <p:cNvSpPr/>
          <p:nvPr/>
        </p:nvSpPr>
        <p:spPr>
          <a:xfrm>
            <a:off x="1714500" y="55245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Front View After Upgrade:</a:t>
            </a:r>
            <a:endParaRPr lang="en-US" sz="1100"/>
          </a:p>
          <a:p>
            <a:pPr indent="0" algn="l">
              <a:lnSpc>
                <a:spcPct val="100000"/>
              </a:lnSpc>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New LCD screen with high color accuracy and clear picture, improving visibility.</a:t>
            </a:r>
            <a:endPar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4" name="Picture 14"/>
          <p:cNvPicPr>
            <a:picLocks noChangeAspect="1"/>
          </p:cNvPicPr>
          <p:nvPr/>
        </p:nvPicPr>
        <p:blipFill>
          <a:blip r:embed="rId3"/>
          <a:srcRect l="12037" r="12037"/>
          <a:stretch>
            <a:fillRect/>
          </a:stretch>
        </p:blipFill>
        <p:spPr>
          <a:xfrm>
            <a:off x="6237976" y="1651000"/>
            <a:ext cx="5568597" cy="4889500"/>
          </a:xfrm>
          <a:prstGeom prst="rect">
            <a:avLst/>
          </a:prstGeom>
          <a:noFill/>
          <a:ln w="25400" cap="flat" cmpd="sng">
            <a:solidFill>
              <a:srgbClr val="E5E7EB">
                <a:alpha val="100000"/>
              </a:srgbClr>
            </a:solidFill>
            <a:prstDash val="solid"/>
            <a:round/>
          </a:ln>
          <a:effectLst>
            <a:outerShdw blurRad="444500" dist="190500" dir="2700000" algn="tl" rotWithShape="0">
              <a:srgbClr val="000000">
                <a:alpha val="25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3333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070600" y="762000"/>
            <a:ext cx="50800" cy="5334000"/>
          </a:xfrm>
          <a:prstGeom prst="roundRect">
            <a:avLst>
              <a:gd name="adj" fmla="val 0"/>
            </a:avLst>
          </a:prstGeom>
          <a:solidFill>
            <a:srgbClr val="FF66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1778000"/>
            <a:ext cx="4572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9600" b="1" i="0" u="none" strike="noStrike">
                <a:solidFill>
                  <a:srgbClr val="FF6600"/>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4" name="AutoShape 4"/>
          <p:cNvSpPr/>
          <p:nvPr/>
        </p:nvSpPr>
        <p:spPr>
          <a:xfrm>
            <a:off x="762000" y="3683000"/>
            <a:ext cx="482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Performance &amp; Value Analysis</a:t>
            </a:r>
            <a:endParaRPr lang="en-US" sz="1100"/>
          </a:p>
        </p:txBody>
      </p:sp>
      <p:sp>
        <p:nvSpPr>
          <p:cNvPr id="5" name="AutoShape 5"/>
          <p:cNvSpPr/>
          <p:nvPr/>
        </p:nvSpPr>
        <p:spPr>
          <a:xfrm>
            <a:off x="762000" y="5080000"/>
            <a:ext cx="482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Visual Effects &amp; ROI</a:t>
            </a:r>
            <a:endParaRPr lang="en-US" sz="1100"/>
          </a:p>
        </p:txBody>
      </p:sp>
      <p:sp>
        <p:nvSpPr>
          <p:cNvPr id="6" name="AutoShape 6"/>
          <p:cNvSpPr/>
          <p:nvPr/>
        </p:nvSpPr>
        <p:spPr>
          <a:xfrm>
            <a:off x="6604000" y="1270000"/>
            <a:ext cx="4826000" cy="4318000"/>
          </a:xfrm>
          <a:prstGeom prst="roundRect">
            <a:avLst>
              <a:gd name="adj" fmla="val 0"/>
            </a:avLst>
          </a:prstGeom>
          <a:solidFill>
            <a:srgbClr val="FFFFFF">
              <a:alpha val="8000"/>
            </a:srgbClr>
          </a:solidFill>
          <a:ln w="12700" cap="flat" cmpd="sng">
            <a:solidFill>
              <a:srgbClr val="FF6600">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01000" y="1905000"/>
            <a:ext cx="2032000" cy="1270000"/>
          </a:xfrm>
          <a:prstGeom prst="rect">
            <a:avLst/>
          </a:prstGeom>
        </p:spPr>
      </p:pic>
      <p:sp>
        <p:nvSpPr>
          <p:cNvPr id="8" name="AutoShape 8"/>
          <p:cNvSpPr/>
          <p:nvPr/>
        </p:nvSpPr>
        <p:spPr>
          <a:xfrm>
            <a:off x="6731000" y="3556000"/>
            <a:ext cx="457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PERFORMANCE &amp; ROI ANALYSIS</a:t>
            </a:r>
            <a:endParaRPr lang="en-US" sz="1100"/>
          </a:p>
        </p:txBody>
      </p:sp>
      <p:sp>
        <p:nvSpPr>
          <p:cNvPr id="9" name="AutoShape 9"/>
          <p:cNvSpPr/>
          <p:nvPr/>
        </p:nvSpPr>
        <p:spPr>
          <a:xfrm>
            <a:off x="6731000" y="4572000"/>
            <a:ext cx="4572000" cy="1016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3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In-depth analysis of core performance metrics</a:t>
            </a:r>
            <a:br>
              <a:rPr lang="en-US" sz="13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and long-term business value transformation</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descr="D:\工作资料\KONGTO\产品图片\0093\新款0093-V3.4\0093 LCD替换及效果\D9MM-11A A61L-0001-0093.jpgD9MM-11A A61L-0001-0093"/>
          <p:cNvPicPr>
            <a:picLocks noChangeAspect="1"/>
          </p:cNvPicPr>
          <p:nvPr/>
        </p:nvPicPr>
        <p:blipFill>
          <a:blip r:embed="rId1"/>
          <a:srcRect/>
          <a:stretch>
            <a:fillRect/>
          </a:stretch>
        </p:blipFill>
        <p:spPr>
          <a:xfrm>
            <a:off x="635318" y="762000"/>
            <a:ext cx="5333365" cy="5334000"/>
          </a:xfrm>
          <a:prstGeom prst="roundRect">
            <a:avLst>
              <a:gd name="adj" fmla="val 2857"/>
            </a:avLst>
          </a:prstGeom>
          <a:noFill/>
          <a:ln w="25400" cap="flat" cmpd="sng">
            <a:noFill/>
            <a:prstDash val="solid"/>
            <a:round/>
          </a:ln>
          <a:effectLst>
            <a:outerShdw blurRad="444500" dist="190500" dir="2700000" algn="tl" rotWithShape="0">
              <a:srgbClr val="000000">
                <a:alpha val="25000"/>
              </a:srgbClr>
            </a:outerShdw>
          </a:effectLst>
        </p:spPr>
      </p:pic>
      <p:sp>
        <p:nvSpPr>
          <p:cNvPr id="3" name="AutoShape 3"/>
          <p:cNvSpPr/>
          <p:nvPr/>
        </p:nvSpPr>
        <p:spPr>
          <a:xfrm>
            <a:off x="6604000" y="508000"/>
            <a:ext cx="508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Upgrade Effects &amp; ROI Analysis</a:t>
            </a:r>
            <a:endParaRPr lang="en-US" sz="1100"/>
          </a:p>
        </p:txBody>
      </p:sp>
      <p:sp>
        <p:nvSpPr>
          <p:cNvPr id="4" name="AutoShape 4"/>
          <p:cNvSpPr/>
          <p:nvPr/>
        </p:nvSpPr>
        <p:spPr>
          <a:xfrm>
            <a:off x="6604000" y="1524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65D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 Visual Effect Comparison</a:t>
            </a:r>
            <a:endParaRPr lang="en-US" sz="1100"/>
          </a:p>
        </p:txBody>
      </p:sp>
      <p:sp>
        <p:nvSpPr>
          <p:cNvPr id="5" name="AutoShape 5"/>
          <p:cNvSpPr/>
          <p:nvPr/>
        </p:nvSpPr>
        <p:spPr>
          <a:xfrm>
            <a:off x="6604000" y="2159000"/>
            <a:ext cx="1587500" cy="1524000"/>
          </a:xfrm>
          <a:prstGeom prst="roundRect">
            <a:avLst>
              <a:gd name="adj" fmla="val 6666"/>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56400" y="2311400"/>
            <a:ext cx="304800" cy="304800"/>
          </a:xfrm>
          <a:prstGeom prst="rect">
            <a:avLst/>
          </a:prstGeom>
        </p:spPr>
      </p:pic>
      <p:sp>
        <p:nvSpPr>
          <p:cNvPr id="7" name="AutoShape 7"/>
          <p:cNvSpPr/>
          <p:nvPr/>
        </p:nvSpPr>
        <p:spPr>
          <a:xfrm>
            <a:off x="7137400" y="2286000"/>
            <a:ext cx="101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Display Quality</a:t>
            </a:r>
            <a:endParaRPr lang="en-US" sz="1100"/>
          </a:p>
        </p:txBody>
      </p:sp>
      <p:sp>
        <p:nvSpPr>
          <p:cNvPr id="8" name="AutoShape 8"/>
          <p:cNvSpPr/>
          <p:nvPr/>
        </p:nvSpPr>
        <p:spPr>
          <a:xfrm>
            <a:off x="6731000" y="2794000"/>
            <a:ext cx="13335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Bid farewell to blur and flicker, achieving clear images and a stable, flicker-free visual experience.</a:t>
            </a:r>
            <a:endParaRPr lang="en-US" sz="1100"/>
          </a:p>
        </p:txBody>
      </p:sp>
      <p:sp>
        <p:nvSpPr>
          <p:cNvPr id="9" name="AutoShape 9"/>
          <p:cNvSpPr/>
          <p:nvPr/>
        </p:nvSpPr>
        <p:spPr>
          <a:xfrm>
            <a:off x="8280400" y="2159000"/>
            <a:ext cx="1587500" cy="1524000"/>
          </a:xfrm>
          <a:prstGeom prst="roundRect">
            <a:avLst>
              <a:gd name="adj" fmla="val 6666"/>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32800" y="2311400"/>
            <a:ext cx="304800" cy="304800"/>
          </a:xfrm>
          <a:prstGeom prst="rect">
            <a:avLst/>
          </a:prstGeom>
        </p:spPr>
      </p:pic>
      <p:sp>
        <p:nvSpPr>
          <p:cNvPr id="11" name="AutoShape 11"/>
          <p:cNvSpPr/>
          <p:nvPr/>
        </p:nvSpPr>
        <p:spPr>
          <a:xfrm>
            <a:off x="8813800" y="2286000"/>
            <a:ext cx="101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Efficiency</a:t>
            </a:r>
            <a:endParaRPr lang="en-US" sz="1100"/>
          </a:p>
        </p:txBody>
      </p:sp>
      <p:sp>
        <p:nvSpPr>
          <p:cNvPr id="12" name="AutoShape 12"/>
          <p:cNvSpPr/>
          <p:nvPr/>
        </p:nvSpPr>
        <p:spPr>
          <a:xfrm>
            <a:off x="8407400" y="2794000"/>
            <a:ext cx="13335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Significantly optimizes operation, reducing programming time by an average of 15%.</a:t>
            </a:r>
            <a:endParaRPr lang="en-US" sz="1100"/>
          </a:p>
        </p:txBody>
      </p:sp>
      <p:sp>
        <p:nvSpPr>
          <p:cNvPr id="13" name="AutoShape 13"/>
          <p:cNvSpPr/>
          <p:nvPr/>
        </p:nvSpPr>
        <p:spPr>
          <a:xfrm>
            <a:off x="9969500" y="2159000"/>
            <a:ext cx="1587500" cy="1524000"/>
          </a:xfrm>
          <a:prstGeom prst="roundRect">
            <a:avLst>
              <a:gd name="adj" fmla="val 6666"/>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21900" y="2311400"/>
            <a:ext cx="304800" cy="304800"/>
          </a:xfrm>
          <a:prstGeom prst="rect">
            <a:avLst/>
          </a:prstGeom>
        </p:spPr>
      </p:pic>
      <p:sp>
        <p:nvSpPr>
          <p:cNvPr id="15" name="AutoShape 15"/>
          <p:cNvSpPr/>
          <p:nvPr/>
        </p:nvSpPr>
        <p:spPr>
          <a:xfrm>
            <a:off x="10502900" y="2286000"/>
            <a:ext cx="101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Stability</a:t>
            </a:r>
            <a:endParaRPr lang="en-US" sz="1100"/>
          </a:p>
        </p:txBody>
      </p:sp>
      <p:sp>
        <p:nvSpPr>
          <p:cNvPr id="16" name="AutoShape 16"/>
          <p:cNvSpPr/>
          <p:nvPr/>
        </p:nvSpPr>
        <p:spPr>
          <a:xfrm>
            <a:off x="10096500" y="2794000"/>
            <a:ext cx="13335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Eliminates unexpected downtime caused by aging CRT monitor failures.</a:t>
            </a:r>
            <a:endParaRPr lang="en-US" sz="1100"/>
          </a:p>
        </p:txBody>
      </p:sp>
      <p:sp>
        <p:nvSpPr>
          <p:cNvPr id="17" name="AutoShape 17"/>
          <p:cNvSpPr/>
          <p:nvPr/>
        </p:nvSpPr>
        <p:spPr>
          <a:xfrm>
            <a:off x="6604000" y="393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65DFF"/>
                </a:solidFill>
                <a:latin typeface="Noto Sans SC" panose="020B0200000000000000" charset="-122"/>
                <a:ea typeface="Noto Sans SC" panose="020B0200000000000000" charset="-122"/>
                <a:cs typeface="Noto Sans SC" panose="020B0200000000000000" charset="-122"/>
                <a:sym typeface="Noto Sans SC" panose="020B0200000000000000" charset="-122"/>
              </a:rPr>
              <a:t>02 / ROI Analysis</a:t>
            </a:r>
            <a:endParaRPr lang="en-US" sz="1100"/>
          </a:p>
        </p:txBody>
      </p:sp>
      <p:sp>
        <p:nvSpPr>
          <p:cNvPr id="18" name="AutoShape 18"/>
          <p:cNvSpPr/>
          <p:nvPr/>
        </p:nvSpPr>
        <p:spPr>
          <a:xfrm>
            <a:off x="6604000" y="4572000"/>
            <a:ext cx="1587500" cy="1143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6604000" y="4699000"/>
            <a:ext cx="15875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Annual Maint Cost</a:t>
            </a:r>
            <a:endParaRPr lang="en-US" sz="1100"/>
          </a:p>
          <a:p>
            <a:pPr indent="0" algn="ctr">
              <a:lnSpc>
                <a:spcPct val="125000"/>
              </a:lnSpc>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¥2,000</a:t>
            </a:r>
            <a:endPar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8280400" y="4572000"/>
            <a:ext cx="1587500" cy="1143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8280400" y="4699000"/>
            <a:ext cx="15875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Annual Loss</a:t>
            </a:r>
            <a:endParaRPr lang="en-US" sz="1100"/>
          </a:p>
          <a:p>
            <a:pPr indent="0" algn="ctr">
              <a:lnSpc>
                <a:spcPct val="125000"/>
              </a:lnSpc>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¥25,000</a:t>
            </a:r>
            <a:endPar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9969500" y="4572000"/>
            <a:ext cx="1587500" cy="1143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9969500" y="4699000"/>
            <a:ext cx="15875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Upgrade Cost</a:t>
            </a:r>
            <a:endParaRPr lang="en-US" sz="1100"/>
          </a:p>
          <a:p>
            <a:pPr indent="0" algn="ctr">
              <a:lnSpc>
                <a:spcPct val="125000"/>
              </a:lnSpc>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¥1k - 3k</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6604000" y="5842000"/>
            <a:ext cx="4953000" cy="889000"/>
          </a:xfrm>
          <a:prstGeom prst="roundRect">
            <a:avLst>
              <a:gd name="adj" fmla="val 11428"/>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94500" y="6032500"/>
            <a:ext cx="508000" cy="508000"/>
          </a:xfrm>
          <a:prstGeom prst="rect">
            <a:avLst/>
          </a:prstGeom>
        </p:spPr>
      </p:pic>
      <p:sp>
        <p:nvSpPr>
          <p:cNvPr id="26" name="AutoShape 26"/>
          <p:cNvSpPr/>
          <p:nvPr/>
        </p:nvSpPr>
        <p:spPr>
          <a:xfrm>
            <a:off x="7493000" y="5905500"/>
            <a:ext cx="203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Payback Period</a:t>
            </a:r>
            <a:endParaRPr lang="en-US" sz="1100"/>
          </a:p>
          <a:p>
            <a:pPr indent="0" algn="l">
              <a:lnSpc>
                <a:spcPct val="125000"/>
              </a:lnSpc>
            </a:pPr>
            <a:r>
              <a:rPr lang="en-US" sz="11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Based on cost savings &amp; gains</a:t>
            </a:r>
            <a:endParaRPr lang="en-US" sz="11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p:nvPr/>
        </p:nvSpPr>
        <p:spPr>
          <a:xfrm>
            <a:off x="9525000" y="5969000"/>
            <a:ext cx="1905000" cy="635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1 Month</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3333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1778000"/>
            <a:ext cx="2286000" cy="177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0" b="1" i="0" u="none" strike="noStrike">
                <a:solidFill>
                  <a:srgbClr val="FF6600"/>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3" name="AutoShape 3"/>
          <p:cNvSpPr/>
          <p:nvPr/>
        </p:nvSpPr>
        <p:spPr>
          <a:xfrm>
            <a:off x="1016000" y="3683000"/>
            <a:ext cx="406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Summary and Outlook</a:t>
            </a:r>
            <a:endParaRPr lang="en-US" sz="1100"/>
          </a:p>
        </p:txBody>
      </p:sp>
      <p:sp>
        <p:nvSpPr>
          <p:cNvPr id="4" name="AutoShape 4"/>
          <p:cNvSpPr/>
          <p:nvPr/>
        </p:nvSpPr>
        <p:spPr>
          <a:xfrm>
            <a:off x="1016000" y="4953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The Value of Equipment Modernization</a:t>
            </a:r>
            <a:endParaRPr lang="en-US" sz="1100"/>
          </a:p>
        </p:txBody>
      </p:sp>
      <p:sp>
        <p:nvSpPr>
          <p:cNvPr id="5" name="AutoShape 5"/>
          <p:cNvSpPr/>
          <p:nvPr/>
        </p:nvSpPr>
        <p:spPr>
          <a:xfrm>
            <a:off x="5842000" y="1905000"/>
            <a:ext cx="76200" cy="3048000"/>
          </a:xfrm>
          <a:prstGeom prst="roundRect">
            <a:avLst>
              <a:gd name="adj" fmla="val 0"/>
            </a:avLst>
          </a:prstGeom>
          <a:solidFill>
            <a:srgbClr val="FF66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858000" y="2286000"/>
            <a:ext cx="4318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6000" b="1" i="0" u="none" strike="noStrike">
                <a:solidFill>
                  <a:srgbClr val="FFFFFF">
                    <a:alpha val="7843"/>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KONGTO</a:t>
            </a:r>
            <a:endParaRPr lang="en-US" sz="1100"/>
          </a:p>
          <a:p>
            <a:pPr indent="0" algn="l">
              <a:lnSpc>
                <a:spcPct val="100000"/>
              </a:lnSpc>
            </a:pPr>
            <a:r>
              <a:rPr lang="en-US" sz="4000" b="1" i="0" u="none" strike="noStrike">
                <a:solidFill>
                  <a:srgbClr val="FFFFFF">
                    <a:alpha val="7843"/>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Technology</a:t>
            </a:r>
            <a:endParaRPr lang="en-US" sz="4000" b="1" i="0" u="none" strike="noStrike">
              <a:solidFill>
                <a:srgbClr val="FFFFFF">
                  <a:alpha val="7843"/>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858000" y="4699000"/>
            <a:ext cx="4318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4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Review the key milestones and core achievements of the project, and explore the infinite possibilities of future intelligent upgrades.</a:t>
            </a:r>
            <a:endParaRPr lang="en-US" sz="1100"/>
          </a:p>
        </p:txBody>
      </p:sp>
      <p:sp>
        <p:nvSpPr>
          <p:cNvPr id="8" name="AutoShape 8"/>
          <p:cNvSpPr/>
          <p:nvPr/>
        </p:nvSpPr>
        <p:spPr>
          <a:xfrm>
            <a:off x="8766062" y="978512"/>
            <a:ext cx="1435100" cy="317500"/>
          </a:xfrm>
          <a:prstGeom prst="rect">
            <a:avLst/>
          </a:prstGeom>
          <a:noFill/>
          <a:ln w="12700">
            <a:noFill/>
            <a:prstDash val="solid"/>
          </a:ln>
        </p:spPr>
        <p:txBody>
          <a:bodyPr wrap="none" lIns="0" tIns="0" rIns="0" bIns="0" rtlCol="0" anchor="t"/>
          <a:lstStyle/>
          <a:p>
            <a:pPr algn="l">
              <a:defRPr/>
            </a:pPr>
          </a:p>
        </p:txBody>
      </p:sp>
      <p:sp>
        <p:nvSpPr>
          <p:cNvPr id="9" name="AutoShape 9"/>
          <p:cNvSpPr/>
          <p:nvPr/>
        </p:nvSpPr>
        <p:spPr>
          <a:xfrm>
            <a:off x="8920096" y="6215657"/>
            <a:ext cx="2006600" cy="317500"/>
          </a:xfrm>
          <a:prstGeom prst="rect">
            <a:avLst/>
          </a:prstGeom>
          <a:noFill/>
          <a:ln w="12700">
            <a:noFill/>
            <a:prstDash val="solid"/>
          </a:ln>
        </p:spPr>
        <p:txBody>
          <a:bodyPr wrap="none" lIns="0" tIns="0" rIns="0" bIns="0" rtlCol="0" anchor="t"/>
          <a:lstStyle/>
          <a:p>
            <a:pPr indent="0" algn="l">
              <a:lnSpc>
                <a:spcPct val="125000"/>
              </a:lnSpc>
              <a:defRPr/>
            </a:pP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hlinkClick r:id="rId1" tooltip="www.cncdisplay.com"/>
              </a:rPr>
              <a:t>www.cncdisplay.com</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Summary and Outlook</a:t>
            </a:r>
            <a:endParaRPr lang="en-US" sz="1100"/>
          </a:p>
        </p:txBody>
      </p:sp>
      <p:sp>
        <p:nvSpPr>
          <p:cNvPr id="3" name="AutoShape 3"/>
          <p:cNvSpPr/>
          <p:nvPr/>
        </p:nvSpPr>
        <p:spPr>
          <a:xfrm>
            <a:off x="762000" y="1778000"/>
            <a:ext cx="5207000" cy="4318000"/>
          </a:xfrm>
          <a:prstGeom prst="roundRect">
            <a:avLst>
              <a:gd name="adj" fmla="val 0"/>
            </a:avLst>
          </a:prstGeom>
          <a:solidFill>
            <a:srgbClr val="F8FA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2159000"/>
            <a:ext cx="406400" cy="406400"/>
          </a:xfrm>
          <a:prstGeom prst="rect">
            <a:avLst/>
          </a:prstGeom>
        </p:spPr>
      </p:pic>
      <p:sp>
        <p:nvSpPr>
          <p:cNvPr id="5" name="AutoShape 5"/>
          <p:cNvSpPr/>
          <p:nvPr/>
        </p:nvSpPr>
        <p:spPr>
          <a:xfrm>
            <a:off x="1651000" y="21336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Summary</a:t>
            </a:r>
            <a:endParaRPr lang="en-US" sz="1100"/>
          </a:p>
        </p:txBody>
      </p:sp>
      <p:sp>
        <p:nvSpPr>
          <p:cNvPr id="6" name="AutoShape 6"/>
          <p:cNvSpPr/>
          <p:nvPr/>
        </p:nvSpPr>
        <p:spPr>
          <a:xfrm>
            <a:off x="1079500" y="3175000"/>
            <a:ext cx="4572000" cy="241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This upgrade and renovation is a typical modernization project with</a:t>
            </a:r>
            <a:r>
              <a:rPr lang="en-US" sz="1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"Small Investment, Big Return"</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It not only directly resolves the pain points in operation and maintenance of the old display system, but also, by systematically improving the usability and stability of the equipment, unblocks the key links of production information flow, laying a solid and reliable hardware foundation for the enterprise's digital transformation.</a:t>
            </a:r>
            <a:endParaRPr lang="en-US" sz="1100"/>
          </a:p>
        </p:txBody>
      </p:sp>
      <p:sp>
        <p:nvSpPr>
          <p:cNvPr id="7" name="AutoShape 7"/>
          <p:cNvSpPr/>
          <p:nvPr/>
        </p:nvSpPr>
        <p:spPr>
          <a:xfrm>
            <a:off x="6223000" y="1778000"/>
            <a:ext cx="5207000" cy="4318000"/>
          </a:xfrm>
          <a:prstGeom prst="roundRect">
            <a:avLst>
              <a:gd name="adj" fmla="val 0"/>
            </a:avLst>
          </a:prstGeom>
          <a:solidFill>
            <a:srgbClr val="F8FA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2159000"/>
            <a:ext cx="406400" cy="406400"/>
          </a:xfrm>
          <a:prstGeom prst="rect">
            <a:avLst/>
          </a:prstGeom>
        </p:spPr>
      </p:pic>
      <p:sp>
        <p:nvSpPr>
          <p:cNvPr id="9" name="AutoShape 9"/>
          <p:cNvSpPr/>
          <p:nvPr/>
        </p:nvSpPr>
        <p:spPr>
          <a:xfrm>
            <a:off x="7112000" y="21336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Outlook</a:t>
            </a:r>
            <a:endParaRPr lang="en-US" sz="1100"/>
          </a:p>
        </p:txBody>
      </p:sp>
      <p:sp>
        <p:nvSpPr>
          <p:cNvPr id="10" name="AutoShape 10"/>
          <p:cNvSpPr/>
          <p:nvPr/>
        </p:nvSpPr>
        <p:spPr>
          <a:xfrm>
            <a:off x="6540500" y="3175000"/>
            <a:ext cx="4572000" cy="241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Amid the wave of intelligent manufacturing, localized and key technical upgrades to existing equipment are a pragmatic and efficient path for enterprises to</a:t>
            </a:r>
            <a:r>
              <a:rPr lang="en-US" sz="12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Enhance Core Competitiveness</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By introducing mature, cost-effective alternative technologies, enterprises can significantly extend asset life and optimize operating costs without bearing the capital expenditure of large-scale new equipment, ultimately achieving the strategic goals of "cost reduction, efficiency improvement, and quality enhancement".</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3333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778000"/>
            <a:ext cx="12192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8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endParaRPr lang="en-US" sz="1100"/>
          </a:p>
        </p:txBody>
      </p:sp>
      <p:sp>
        <p:nvSpPr>
          <p:cNvPr id="3" name="AutoShape 3"/>
          <p:cNvSpPr/>
          <p:nvPr/>
        </p:nvSpPr>
        <p:spPr>
          <a:xfrm>
            <a:off x="0" y="3429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 you for watching</a:t>
            </a:r>
            <a:endParaRPr lang="en-US" sz="1100"/>
          </a:p>
        </p:txBody>
      </p:sp>
      <p:sp>
        <p:nvSpPr>
          <p:cNvPr id="4" name="AutoShape 4"/>
          <p:cNvSpPr/>
          <p:nvPr/>
        </p:nvSpPr>
        <p:spPr>
          <a:xfrm>
            <a:off x="0" y="5334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Kongto Technology | cncdisplay.com | Professional Industrial Display Solutions Provider</a:t>
            </a:r>
            <a:endParaRPr lang="en-US" sz="16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sz="1800">
                <a:ln/>
                <a:solidFill>
                  <a:schemeClr val="accent1"/>
                </a:solidFill>
                <a:effectLst>
                  <a:outerShdw blurRad="38100" dist="25400" dir="5400000" algn="ctr" rotWithShape="0">
                    <a:srgbClr val="6E747A">
                      <a:alpha val="43000"/>
                    </a:srgbClr>
                  </a:outerShdw>
                </a:effectLst>
              </a:rPr>
              <a:t>szkongto01@foxmail.com</a:t>
            </a:r>
            <a:endParaRPr lang="en-US" sz="1800">
              <a:ln/>
              <a:solidFill>
                <a:schemeClr val="accent1"/>
              </a:solidFill>
              <a:effectLst>
                <a:outerShdw blurRad="38100" dist="25400" dir="5400000" algn="ctr" rotWithShape="0">
                  <a:srgbClr val="6E747A">
                    <a:alpha val="43000"/>
                  </a:srgbClr>
                </a:outerShdw>
              </a:effectLst>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7005</Words>
  <Application>WPS 演示</Application>
  <PresentationFormat/>
  <Paragraphs>311</Paragraphs>
  <Slides>16</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16</vt:i4>
      </vt:variant>
    </vt:vector>
  </HeadingPairs>
  <TitlesOfParts>
    <vt:vector size="25"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郭宇波</cp:lastModifiedBy>
  <cp:revision>3</cp:revision>
  <dcterms:created xsi:type="dcterms:W3CDTF">2026-05-15T15:46:56Z</dcterms:created>
  <dcterms:modified xsi:type="dcterms:W3CDTF">2026-05-15T15:50:30Z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3ECAD51D8E484A7DA52CE8F2BE06C597</vt:lpwstr>
  </property>
  <property fmtid="{D5CDD505-2E9C-101B-9397-08002B2CF9AE}" pid="3" name="KSOProductBuildVer">
    <vt:lpwstr>2052-11.1.0.11372</vt:lpwstr>
  </property>
</Properties>
</file>